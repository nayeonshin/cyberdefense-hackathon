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charts/chart1.xml" ContentType="application/vnd.openxmlformats-officedocument.drawingml.chart+xml"/>
  <Override PartName="/ppt/slideMasters/slideMaster4.xml" ContentType="application/vnd.openxmlformats-officedocument.presentationml.slideMaster+xml"/>
  <Override PartName="/ppt/slides/slide4.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Lst>
  <p:notesMasterIdLst>
    <p:notesMasterId r:id="rId6"/>
  </p:notesMasterIdLst>
  <p:sldSz cx="9144000" cy="5143500"/>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Member 2" id="{1edb872b-1cf5-f3b6-d576-631138ff3bf5}">
          <p14:sldIdLst>
            <p14:sldId id="256"/>
            <p14:sldId id="257"/>
            <p14:sldId id="258"/>
            <p14:sldId id="259"/>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notesMaster" Target="notesMasters/notesMaster1.xml"/><Relationship Id="rId7" Type="http://schemas.openxmlformats.org/officeDocument/2006/relationships/presProps" Target="presProps.xml"/><Relationship Id="rId8" Type="http://schemas.openxmlformats.org/officeDocument/2006/relationships/viewProps" Target="viewProps.xml"/><Relationship Id="rId9" Type="http://schemas.openxmlformats.org/officeDocument/2006/relationships/theme" Target="theme/theme1.xml"/><Relationship Id="rId10" Type="http://schemas.openxmlformats.org/officeDocument/2006/relationships/tableStyles" Target="tableStyles.xml"/></Relationships>
</file>

<file path=ppt/charts/_rels/chart1.xml.rels><?xml version="1.0" encoding="UTF-8" standalone="yes"?><Relationships xmlns="http://schemas.openxmlformats.org/package/2006/relationships"><Relationship Id="rId1" Type="http://schemas.openxmlformats.org/officeDocument/2006/relationships/package" Target="../embeddings/Microsoft_Excel_Worksheet1.xlsx"/></Relationships>
</file>

<file path=ppt/charts/chart1.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barChart>
        <c:barDir val="col"/>
        <c:grouping val="clustered"/>
        <c:varyColors val="0"/>
        <c:ser>
          <c:idx val="0"/>
          <c:order val="0"/>
          <c:tx>
            <c:strRef>
              <c:f>Sheet1!$B$1</c:f>
              <c:strCache>
                <c:ptCount val="1"/>
                <c:pt idx="0">
                  <c:v>Malicious detected (%)</c:v>
                </c:pt>
              </c:strCache>
            </c:strRef>
          </c:tx>
          <c:spPr>
            <a:solidFill>
              <a:srgbClr val="12A150"/>
            </a:solidFill>
            <a:effectLst/>
          </c:spPr>
          <c:invertIfNegative val="0"/>
          <c:dLbls>
            <c:numFmt formatCode="#,##0" sourceLinked="0"/>
            <c:txPr>
              <a:bodyPr/>
              <a:lstStyle/>
              <a:p>
                <a:pPr>
                  <a:defRPr b="0" i="0" strike="noStrike" sz="1200" u="none">
                    <a:solidFill>
                      <a:srgbClr val="0F1B2D"/>
                    </a:solidFill>
                    <a:latin typeface="+mn-lt"/>
                  </a:defRPr>
                </a:pPr>
              </a:p>
            </c:txPr>
            <c:showLegendKey val="0"/>
            <c:showVal val="1"/>
            <c:showCatName val="0"/>
            <c:showSerName val="0"/>
            <c:showPercent val="0"/>
            <c:showBubbleSize val="0"/>
            <c:showLeaderLines val="0"/>
          </c:dLbls>
          <c:cat>
            <c:multiLvlStrRef>
              <c:f>Sheet1!$A$2:$A$3</c:f>
              <c:multiLvlStrCache>
                <c:ptCount val="2"/>
                <c:lvl>
                  <c:pt idx="0">
                    <c:v>Semgrep rules</c:v>
                  </c:pt>
                  <c:pt idx="1">
                    <c:v>Regex baseline</c:v>
                  </c:pt>
                </c:lvl>
              </c:multiLvlStrCache>
            </c:multiLvlStrRef>
          </c:cat>
          <c:val>
            <c:numRef>
              <c:f>Sheet1!$B$2:$B$3</c:f>
              <c:numCache>
                <c:formatCode>General</c:formatCode>
                <c:ptCount val="2"/>
                <c:pt idx="0">
                  <c:v>100</c:v>
                </c:pt>
                <c:pt idx="1">
                  <c:v>71</c:v>
                </c:pt>
              </c:numCache>
            </c:numRef>
          </c:val>
        </c:ser>
        <c:ser>
          <c:idx val="1"/>
          <c:order val="1"/>
          <c:tx>
            <c:strRef>
              <c:f>Sheet1!$C$1</c:f>
              <c:strCache>
                <c:ptCount val="1"/>
                <c:pt idx="0">
                  <c:v>Benign flagged (%)</c:v>
                </c:pt>
              </c:strCache>
            </c:strRef>
          </c:tx>
          <c:spPr>
            <a:solidFill>
              <a:srgbClr val="D64545"/>
            </a:solidFill>
            <a:effectLst/>
          </c:spPr>
          <c:invertIfNegative val="0"/>
          <c:dLbls>
            <c:numFmt formatCode="#,##0" sourceLinked="0"/>
            <c:txPr>
              <a:bodyPr/>
              <a:lstStyle/>
              <a:p>
                <a:pPr>
                  <a:defRPr b="0" i="0" strike="noStrike" sz="1200" u="none">
                    <a:solidFill>
                      <a:srgbClr val="0F1B2D"/>
                    </a:solidFill>
                    <a:latin typeface="+mn-lt"/>
                  </a:defRPr>
                </a:pPr>
              </a:p>
            </c:txPr>
            <c:showLegendKey val="0"/>
            <c:showVal val="1"/>
            <c:showCatName val="0"/>
            <c:showSerName val="0"/>
            <c:showPercent val="0"/>
            <c:showBubbleSize val="0"/>
            <c:showLeaderLines val="0"/>
          </c:dLbls>
          <c:cat>
            <c:multiLvlStrRef>
              <c:f>Sheet1!$A$2:$A$3</c:f>
              <c:multiLvlStrCache>
                <c:ptCount val="2"/>
                <c:lvl>
                  <c:pt idx="0">
                    <c:v>Semgrep rules</c:v>
                  </c:pt>
                  <c:pt idx="1">
                    <c:v>Regex baseline</c:v>
                  </c:pt>
                </c:lvl>
              </c:multiLvlStrCache>
            </c:multiLvlStrRef>
          </c:cat>
          <c:val>
            <c:numRef>
              <c:f>Sheet1!$C$2:$C$3</c:f>
              <c:numCache>
                <c:formatCode>General</c:formatCode>
                <c:ptCount val="2"/>
                <c:pt idx="0">
                  <c:v>0</c:v>
                </c:pt>
                <c:pt idx="1">
                  <c:v>88</c:v>
                </c:pt>
              </c:numCache>
            </c:numRef>
          </c:val>
        </c:ser>
        <c:dLbls>
          <c:numFmt formatCode="#,##0" sourceLinked="0"/>
          <c:txPr>
            <a:bodyPr/>
            <a:lstStyle/>
            <a:p>
              <a:pPr>
                <a:defRPr b="0" i="0" strike="noStrike" sz="1200" u="none">
                  <a:solidFill>
                    <a:srgbClr val="0F1B2D"/>
                  </a:solidFill>
                  <a:latin typeface="+mn-lt"/>
                </a:defRPr>
              </a:pPr>
            </a:p>
          </c:txPr>
          <c:showLegendKey val="0"/>
          <c:showVal val="1"/>
          <c:showCatName val="0"/>
          <c:showSerName val="0"/>
          <c:showPercent val="0"/>
          <c:showBubbleSize val="0"/>
          <c:showLeaderLines val="0"/>
        </c:dLbls>
        <c:gapWidth val="60"/>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200" b="0" i="0" u="none" strike="noStrike">
                <a:solidFill>
                  <a:srgbClr val="33475B"/>
                </a:solidFill>
                <a:latin typeface="+mn-lt"/>
              </a:defRPr>
            </a:pPr>
            <a:endParaRPr lang="en-US"/>
          </a:p>
        </c:txPr>
        <c:crossAx val="2094734552"/>
        <c:crosses val="autoZero"/>
        <c:auto val="1"/>
        <c:lblAlgn val="ctr"/>
        <c:noMultiLvlLbl val="1"/>
      </c:catAx>
      <c:valAx>
        <c:axId val="2094734552"/>
        <c:scaling>
          <c:orientation val="minMax"/>
          <c:max val="115"/>
          <c:min val="0"/>
        </c:scaling>
        <c:delete val="1"/>
        <c:axPos val="l"/>
        <c:numFmt formatCode="General" sourceLinked="0"/>
        <c:majorTickMark val="out"/>
        <c:minorTickMark val="none"/>
        <c:tickLblPos val="nextTo"/>
        <c:spPr>
          <a:ln w="12700" cap="flat">
            <a:solidFill>
              <a:srgbClr val="888888"/>
            </a:solidFill>
            <a:prstDash val="solid"/>
            <a:round/>
          </a:ln>
        </c:spPr>
        <c:txPr>
          <a:bodyPr/>
          <a:lstStyle/>
          <a:p>
            <a:pPr>
              <a:defRPr sz="1100" b="0" i="0" u="none" strike="noStrike">
                <a:solidFill>
                  <a:srgbClr val="33475B"/>
                </a:solidFill>
                <a:latin typeface="+mn-lt"/>
              </a:defRPr>
            </a:pPr>
            <a:endParaRPr lang="en-US"/>
          </a:p>
        </c:txPr>
        <c:crossAx val="2094734554"/>
        <c:crosses val="autoZero"/>
        <c:crossBetween val="between"/>
      </c:valAx>
      <c:spPr>
        <a:noFill/>
        <a:ln>
          <a:noFill/>
        </a:ln>
        <a:effectLst/>
      </c:spPr>
    </c:plotArea>
    <c:legend>
      <c:legendPos val="b"/>
      <c:overlay val="0"/>
      <c:txPr>
        <a:bodyPr/>
        <a:lstStyle/>
        <a:p>
          <a:pPr>
            <a:defRPr sz="1100">
              <a:solidFill>
                <a:srgbClr val="33475B"/>
              </a:solidFill>
              <a:latin typeface="+mn-lt"/>
              <a:cs typeface="+mn-lt"/>
            </a:defRPr>
          </a:pPr>
          <a:endParaRPr lang="en-US"/>
        </a:p>
      </c:txPr>
    </c:legend>
    <c:plotVisOnly val="1"/>
    <c:dispBlanksAs val="span"/>
  </c:chart>
  <c:spPr>
    <a:noFill/>
    <a:ln>
      <a:noFill/>
    </a:ln>
    <a:effectLst/>
  </c:spPr>
  <c:externalData r:id="rId1">
    <c:autoUpdate val="0"/>
  </c:externalData>
</c:chartSpace>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I'm the Brain. A threat feed tells us a URL is bad but not why. My stage fetches what the URL serves as plain text, never rendering or running it, scans it with eight custom Semgrep rules, and combines the rule weights into a confidence score. The verdict is written to ClickHouse for the Actor. Every verdict quotes the rule, file and line, as in the sample at the bottom from our demo phishing page.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All stages share one JSON object. On the left is what my stage takes in: ingestion has set the event ID, the URL and the timestamp, and the verdict fields are empty with the status pending. On the right is what I hand back: the same object with four fields filled in. Whether Semgrep detected anything, the confidence score, the evidence naming the rule, file and line, and the status. Verified means the score is 0.6 or higher. The other four fields pass through untouched, and my worker refuses to write a row if any of them changed. The Actor adds the proof URL once it has acted.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On our labelled samples the rules catch all seven malicious pages and flag none of the eight benign ones, including ordinary login forms. A simple regex baseline catches five of seven and flags seven of the eight benign pages, so it would accuse legitimate sites. A scan takes about three and a half seconds per URL on Linux, and batching brings that to half a second each for 25 URLs. The sample set is small and synthetic, so these are a sanity check rather than a benchmark.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Rules only match patterns someone wrote down. For code written to evade them we built a Verifier agent on Guild AI. It gets the scan result plus the captured scripts and returns a verdict with reasoning. On an obfuscated sample that Semgrep scored zero, it decoded the hidden collector URL and called it malicious. On a normal login form it said benign. The agent is tested and saved on Guild but is not yet in the automated path: that needs the scan service on a public URL. The other next steps are aligning our confidence scale with the Actor's threshold, running the worker against the shared database, and scanning live feed URLs rather than only our own demo pages.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Dark title only">
    <p:bg>
      <p:bgPr>
        <a:solidFill>
          <a:srgbClr val="0F1B2D"/>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457200" y="320040"/>
            <a:ext cx="8229600" cy="640080"/>
          </a:xfrm>
          <a:prstGeom prst="rect">
            <a:avLst/>
          </a:prstGeom>
          <a:noFill/>
          <a:ln/>
        </p:spPr>
        <p:txBody>
          <a:bodyPr wrap="square" rtlCol="0"/>
          <a:lstStyle>
            <a:lvl1pPr algn="l" indent="0" marL="0">
              <a:buNone/>
              <a:defRPr lang="en-US" sz="3600" b="1" dirty="0">
                <a:solidFill>
                  <a:schemeClr val="bg1"/>
                </a:solidFill>
              </a:defRPr>
            </a:lvl1pPr>
          </a:lstStyle>
          <a:p>
            <a:pPr algn="l" indent="0" marL="0">
              <a:buNone/>
            </a:pPr>
            <a:endParaRPr lang="en-US" sz="3600" dirty="0"/>
          </a:p>
        </p:txBody>
      </p:sp>
      <p:sp>
        <p:nvSpPr>
          <p:cNvPr id="3" name="Text 0"/>
          <p:cNvSpPr/>
          <p:nvPr/>
        </p:nvSpPr>
        <p:spPr>
          <a:xfrm>
            <a:off x="457200" y="4709160"/>
            <a:ext cx="6400800" cy="274320"/>
          </a:xfrm>
          <a:prstGeom prst="rect">
            <a:avLst/>
          </a:prstGeom>
          <a:noFill/>
          <a:ln/>
        </p:spPr>
        <p:txBody>
          <a:bodyPr wrap="square" lIns="0" tIns="0" rIns="0" bIns="0" rtlCol="0" anchor="ctr"/>
          <a:lstStyle/>
          <a:p>
            <a:pPr indent="0" marL="0">
              <a:buNone/>
            </a:pPr>
            <a:r>
              <a:rPr lang="en-US" sz="1000" dirty="0">
                <a:solidFill>
                  <a:schemeClr val="accent4"/>
                </a:solidFill>
              </a:rPr>
              <a:t>Member 2 · Payload Inspection and Decision Engine</a:t>
            </a:r>
            <a:endParaRPr lang="en-US" sz="1000" dirty="0"/>
          </a:p>
        </p:txBody>
      </p:sp>
      <p:sp>
        <p:nvSpPr>
          <p:cNvPr id="25" name="Slide Number Placeholder 0"/>
          <p:cNvSpPr>
            <a:spLocks noGrp="1"/>
          </p:cNvSpPr>
          <p:nvPr>
            <p:ph type="sldNum" sz="quarter" idx="4294967295"/>
          </p:nvPr>
        </p:nvSpPr>
        <p:spPr>
          <a:xfrm>
            <a:off x="8229600" y="470916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1002</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Light title only">
    <p:bg>
      <p:bgPr>
        <a:solidFill>
          <a:srgbClr val="FFFFFF"/>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457200" y="320040"/>
            <a:ext cx="8229600" cy="640080"/>
          </a:xfrm>
          <a:prstGeom prst="rect">
            <a:avLst/>
          </a:prstGeom>
          <a:noFill/>
          <a:ln/>
        </p:spPr>
        <p:txBody>
          <a:bodyPr wrap="square" rtlCol="0"/>
          <a:lstStyle>
            <a:lvl1pPr algn="l" indent="0" marL="0">
              <a:buNone/>
              <a:defRPr lang="en-US" sz="3600" b="1" dirty="0">
                <a:solidFill>
                  <a:schemeClr val="tx1"/>
                </a:solidFill>
              </a:defRPr>
            </a:lvl1pPr>
          </a:lstStyle>
          <a:p>
            <a:pPr algn="l" indent="0" marL="0">
              <a:buNone/>
            </a:pPr>
            <a:endParaRPr lang="en-US" sz="3600" dirty="0"/>
          </a:p>
        </p:txBody>
      </p:sp>
      <p:sp>
        <p:nvSpPr>
          <p:cNvPr id="3" name="Text 0"/>
          <p:cNvSpPr/>
          <p:nvPr/>
        </p:nvSpPr>
        <p:spPr>
          <a:xfrm>
            <a:off x="457200" y="4709160"/>
            <a:ext cx="6400800" cy="274320"/>
          </a:xfrm>
          <a:prstGeom prst="rect">
            <a:avLst/>
          </a:prstGeom>
          <a:noFill/>
          <a:ln/>
        </p:spPr>
        <p:txBody>
          <a:bodyPr wrap="square" lIns="0" tIns="0" rIns="0" bIns="0" rtlCol="0" anchor="ctr"/>
          <a:lstStyle/>
          <a:p>
            <a:pPr indent="0" marL="0">
              <a:buNone/>
            </a:pPr>
            <a:r>
              <a:rPr lang="en-US" sz="1000" dirty="0">
                <a:solidFill>
                  <a:schemeClr val="accent4"/>
                </a:solidFill>
              </a:rPr>
              <a:t>Member 2 · Payload Inspection and Decision Engine</a:t>
            </a:r>
            <a:endParaRPr lang="en-US" sz="1000" dirty="0"/>
          </a:p>
        </p:txBody>
      </p:sp>
      <p:sp>
        <p:nvSpPr>
          <p:cNvPr id="25" name="Slide Number Placeholder 0"/>
          <p:cNvSpPr>
            <a:spLocks noGrp="1"/>
          </p:cNvSpPr>
          <p:nvPr>
            <p:ph type="sldNum" sz="quarter" idx="4294967295"/>
          </p:nvPr>
        </p:nvSpPr>
        <p:spPr>
          <a:xfrm>
            <a:off x="8229600" y="470916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1003</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8229600" y="470916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chart" Target="/ppt/charts/chart1.xml"/><Relationship Id="rId2" Type="http://schemas.openxmlformats.org/officeDocument/2006/relationships/slideLayout" Target="../slideLayouts/slideLayout3.xml"/><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ext 0"/>
          <p:cNvSpPr/>
          <p:nvPr>
            <p:ph idx="100" type="title" hasCustomPrompt="1"/>
          </p:nvPr>
        </p:nvSpPr>
        <p:spPr>
          <a:xfrm>
            <a:off x="457200" y="320040"/>
            <a:ext cx="8229600" cy="640080"/>
          </a:xfrm>
          <a:prstGeom prst="rect">
            <a:avLst/>
          </a:prstGeom>
          <a:noFill/>
          <a:ln/>
        </p:spPr>
        <p:txBody>
          <a:bodyPr wrap="square" lIns="0" tIns="0" rIns="0" bIns="0" rtlCol="0" anchor="ctr"/>
          <a:lstStyle/>
          <a:p>
            <a:pPr algn="l" indent="0" marL="0">
              <a:buNone/>
            </a:pPr>
            <a:r>
              <a:rPr lang="en-US" sz="3600" b="1" dirty="0">
                <a:solidFill>
                  <a:schemeClr val="bg1"/>
                </a:solidFill>
              </a:rPr>
              <a:t>The Brain: proof for every verdict</a:t>
            </a:r>
            <a:endParaRPr lang="en-US" sz="3600" dirty="0"/>
          </a:p>
        </p:txBody>
      </p:sp>
      <p:sp>
        <p:nvSpPr>
          <p:cNvPr id="3" name="Subtitle"/>
          <p:cNvSpPr txBox="1"/>
          <p:nvPr/>
        </p:nvSpPr>
        <p:spPr>
          <a:xfrm>
            <a:off x="457200" y="1005840"/>
            <a:ext cx="8229600" cy="548640"/>
          </a:xfrm>
          <a:prstGeom prst="rect">
            <a:avLst/>
          </a:prstGeom>
          <a:noFill/>
          <a:ln/>
        </p:spPr>
        <p:txBody>
          <a:bodyPr wrap="square" lIns="0" tIns="0" rIns="0" bIns="0" rtlCol="0" anchor="t"/>
          <a:lstStyle/>
          <a:p>
            <a:pPr indent="0" marL="0">
              <a:buNone/>
            </a:pPr>
            <a:r>
              <a:rPr lang="en-US" sz="1600" dirty="0">
                <a:solidFill>
                  <a:schemeClr val="bg2"/>
                </a:solidFill>
              </a:rPr>
              <a:t>We read the code each suspicious URL serves and return a verdict the next stage can act on, using Semgrep and Guild AI.</a:t>
            </a:r>
            <a:endParaRPr lang="en-US" sz="1600" dirty="0"/>
          </a:p>
        </p:txBody>
      </p:sp>
      <p:sp>
        <p:nvSpPr>
          <p:cNvPr id="4" name="Step 1 card"/>
          <p:cNvSpPr/>
          <p:nvPr/>
        </p:nvSpPr>
        <p:spPr>
          <a:xfrm>
            <a:off x="457200" y="1783080"/>
            <a:ext cx="1874520" cy="1600200"/>
          </a:xfrm>
          <a:prstGeom prst="roundRect">
            <a:avLst>
              <a:gd name="adj" fmla="val 4571"/>
            </a:avLst>
          </a:prstGeom>
          <a:solidFill>
            <a:schemeClr val="accent5"/>
          </a:solidFill>
          <a:ln w="12700">
            <a:solidFill>
              <a:schemeClr val="accent5"/>
            </a:solidFill>
            <a:prstDash val="solid"/>
          </a:ln>
        </p:spPr>
      </p:sp>
      <p:sp>
        <p:nvSpPr>
          <p:cNvPr id="5" name="Step 1 badge"/>
          <p:cNvSpPr/>
          <p:nvPr/>
        </p:nvSpPr>
        <p:spPr>
          <a:xfrm>
            <a:off x="640080" y="1965960"/>
            <a:ext cx="384048" cy="384048"/>
          </a:xfrm>
          <a:prstGeom prst="ellipse">
            <a:avLst/>
          </a:prstGeom>
          <a:solidFill>
            <a:schemeClr val="accent1"/>
          </a:solidFill>
          <a:ln w="12700">
            <a:solidFill>
              <a:schemeClr val="accent1"/>
            </a:solidFill>
            <a:prstDash val="solid"/>
          </a:ln>
        </p:spPr>
      </p:sp>
      <p:sp>
        <p:nvSpPr>
          <p:cNvPr id="6" name="Step 1 number"/>
          <p:cNvSpPr txBox="1"/>
          <p:nvPr/>
        </p:nvSpPr>
        <p:spPr>
          <a:xfrm>
            <a:off x="640080" y="1965960"/>
            <a:ext cx="384048" cy="384048"/>
          </a:xfrm>
          <a:prstGeom prst="rect">
            <a:avLst/>
          </a:prstGeom>
          <a:noFill/>
          <a:ln/>
        </p:spPr>
        <p:txBody>
          <a:bodyPr wrap="square" lIns="0" tIns="0" rIns="0" bIns="0" rtlCol="0" anchor="ctr"/>
          <a:lstStyle/>
          <a:p>
            <a:pPr algn="ctr" indent="0" marL="0">
              <a:buNone/>
            </a:pPr>
            <a:r>
              <a:rPr lang="en-US" sz="1400" b="1" dirty="0">
                <a:solidFill>
                  <a:schemeClr val="tx1"/>
                </a:solidFill>
              </a:rPr>
              <a:t>1</a:t>
            </a:r>
            <a:endParaRPr lang="en-US" sz="1400" dirty="0"/>
          </a:p>
        </p:txBody>
      </p:sp>
      <p:sp>
        <p:nvSpPr>
          <p:cNvPr id="7" name="Step 1 heading"/>
          <p:cNvSpPr txBox="1"/>
          <p:nvPr/>
        </p:nvSpPr>
        <p:spPr>
          <a:xfrm>
            <a:off x="1143000" y="1965960"/>
            <a:ext cx="1051560" cy="384048"/>
          </a:xfrm>
          <a:prstGeom prst="rect">
            <a:avLst/>
          </a:prstGeom>
          <a:noFill/>
          <a:ln/>
        </p:spPr>
        <p:txBody>
          <a:bodyPr wrap="square" lIns="0" tIns="0" rIns="0" bIns="0" rtlCol="0" anchor="ctr"/>
          <a:lstStyle/>
          <a:p>
            <a:pPr indent="0" marL="0">
              <a:buNone/>
            </a:pPr>
            <a:r>
              <a:rPr lang="en-US" sz="1600" b="1" dirty="0">
                <a:solidFill>
                  <a:schemeClr val="bg1"/>
                </a:solidFill>
              </a:rPr>
              <a:t>Fetch</a:t>
            </a:r>
            <a:endParaRPr lang="en-US" sz="1600" dirty="0"/>
          </a:p>
        </p:txBody>
      </p:sp>
      <p:sp>
        <p:nvSpPr>
          <p:cNvPr id="8" name="Step 1 text"/>
          <p:cNvSpPr txBox="1"/>
          <p:nvPr/>
        </p:nvSpPr>
        <p:spPr>
          <a:xfrm>
            <a:off x="640080" y="2496312"/>
            <a:ext cx="1508760" cy="777240"/>
          </a:xfrm>
          <a:prstGeom prst="rect">
            <a:avLst/>
          </a:prstGeom>
          <a:noFill/>
          <a:ln/>
        </p:spPr>
        <p:txBody>
          <a:bodyPr wrap="square" lIns="0" tIns="0" rIns="0" bIns="0" rtlCol="0" anchor="t"/>
          <a:lstStyle/>
          <a:p>
            <a:pPr indent="0" marL="0">
              <a:buNone/>
            </a:pPr>
            <a:r>
              <a:rPr lang="en-US" sz="1400" dirty="0">
                <a:solidFill>
                  <a:schemeClr val="bg2"/>
                </a:solidFill>
              </a:rPr>
              <a:t>Text only. Never rendered or executed.</a:t>
            </a:r>
            <a:endParaRPr lang="en-US" sz="1400" dirty="0"/>
          </a:p>
        </p:txBody>
      </p:sp>
      <p:sp>
        <p:nvSpPr>
          <p:cNvPr id="9" name="Step 2 card"/>
          <p:cNvSpPr/>
          <p:nvPr/>
        </p:nvSpPr>
        <p:spPr>
          <a:xfrm>
            <a:off x="2575560" y="1783080"/>
            <a:ext cx="1874520" cy="1600200"/>
          </a:xfrm>
          <a:prstGeom prst="roundRect">
            <a:avLst>
              <a:gd name="adj" fmla="val 4571"/>
            </a:avLst>
          </a:prstGeom>
          <a:solidFill>
            <a:schemeClr val="accent5"/>
          </a:solidFill>
          <a:ln w="12700">
            <a:solidFill>
              <a:schemeClr val="accent5"/>
            </a:solidFill>
            <a:prstDash val="solid"/>
          </a:ln>
        </p:spPr>
      </p:sp>
      <p:sp>
        <p:nvSpPr>
          <p:cNvPr id="10" name="Step 2 badge"/>
          <p:cNvSpPr/>
          <p:nvPr/>
        </p:nvSpPr>
        <p:spPr>
          <a:xfrm>
            <a:off x="2758440" y="1965960"/>
            <a:ext cx="384048" cy="384048"/>
          </a:xfrm>
          <a:prstGeom prst="ellipse">
            <a:avLst/>
          </a:prstGeom>
          <a:solidFill>
            <a:schemeClr val="accent1"/>
          </a:solidFill>
          <a:ln w="12700">
            <a:solidFill>
              <a:schemeClr val="accent1"/>
            </a:solidFill>
            <a:prstDash val="solid"/>
          </a:ln>
        </p:spPr>
      </p:sp>
      <p:sp>
        <p:nvSpPr>
          <p:cNvPr id="11" name="Step 2 number"/>
          <p:cNvSpPr txBox="1"/>
          <p:nvPr/>
        </p:nvSpPr>
        <p:spPr>
          <a:xfrm>
            <a:off x="2758440" y="1965960"/>
            <a:ext cx="384048" cy="384048"/>
          </a:xfrm>
          <a:prstGeom prst="rect">
            <a:avLst/>
          </a:prstGeom>
          <a:noFill/>
          <a:ln/>
        </p:spPr>
        <p:txBody>
          <a:bodyPr wrap="square" lIns="0" tIns="0" rIns="0" bIns="0" rtlCol="0" anchor="ctr"/>
          <a:lstStyle/>
          <a:p>
            <a:pPr algn="ctr" indent="0" marL="0">
              <a:buNone/>
            </a:pPr>
            <a:r>
              <a:rPr lang="en-US" sz="1400" b="1" dirty="0">
                <a:solidFill>
                  <a:schemeClr val="tx1"/>
                </a:solidFill>
              </a:rPr>
              <a:t>2</a:t>
            </a:r>
            <a:endParaRPr lang="en-US" sz="1400" dirty="0"/>
          </a:p>
        </p:txBody>
      </p:sp>
      <p:sp>
        <p:nvSpPr>
          <p:cNvPr id="12" name="Step 2 heading"/>
          <p:cNvSpPr txBox="1"/>
          <p:nvPr/>
        </p:nvSpPr>
        <p:spPr>
          <a:xfrm>
            <a:off x="3261360" y="1965960"/>
            <a:ext cx="1051560" cy="384048"/>
          </a:xfrm>
          <a:prstGeom prst="rect">
            <a:avLst/>
          </a:prstGeom>
          <a:noFill/>
          <a:ln/>
        </p:spPr>
        <p:txBody>
          <a:bodyPr wrap="square" lIns="0" tIns="0" rIns="0" bIns="0" rtlCol="0" anchor="ctr"/>
          <a:lstStyle/>
          <a:p>
            <a:pPr indent="0" marL="0">
              <a:buNone/>
            </a:pPr>
            <a:r>
              <a:rPr lang="en-US" sz="1600" b="1" dirty="0">
                <a:solidFill>
                  <a:schemeClr val="bg1"/>
                </a:solidFill>
              </a:rPr>
              <a:t>Scan</a:t>
            </a:r>
            <a:endParaRPr lang="en-US" sz="1600" dirty="0"/>
          </a:p>
        </p:txBody>
      </p:sp>
      <p:sp>
        <p:nvSpPr>
          <p:cNvPr id="13" name="Step 2 text"/>
          <p:cNvSpPr txBox="1"/>
          <p:nvPr/>
        </p:nvSpPr>
        <p:spPr>
          <a:xfrm>
            <a:off x="2758440" y="2496312"/>
            <a:ext cx="1508760" cy="777240"/>
          </a:xfrm>
          <a:prstGeom prst="rect">
            <a:avLst/>
          </a:prstGeom>
          <a:noFill/>
          <a:ln/>
        </p:spPr>
        <p:txBody>
          <a:bodyPr wrap="square" lIns="0" tIns="0" rIns="0" bIns="0" rtlCol="0" anchor="t"/>
          <a:lstStyle/>
          <a:p>
            <a:pPr indent="0" marL="0">
              <a:buNone/>
            </a:pPr>
            <a:r>
              <a:rPr lang="en-US" sz="1400" dirty="0">
                <a:solidFill>
                  <a:schemeClr val="bg2"/>
                </a:solidFill>
              </a:rPr>
              <a:t>8 custom Semgrep rules, one run per batch.</a:t>
            </a:r>
            <a:endParaRPr lang="en-US" sz="1400" dirty="0"/>
          </a:p>
        </p:txBody>
      </p:sp>
      <p:sp>
        <p:nvSpPr>
          <p:cNvPr id="14" name="Step 3 card"/>
          <p:cNvSpPr/>
          <p:nvPr/>
        </p:nvSpPr>
        <p:spPr>
          <a:xfrm>
            <a:off x="4693920" y="1783080"/>
            <a:ext cx="1874520" cy="1600200"/>
          </a:xfrm>
          <a:prstGeom prst="roundRect">
            <a:avLst>
              <a:gd name="adj" fmla="val 4571"/>
            </a:avLst>
          </a:prstGeom>
          <a:solidFill>
            <a:schemeClr val="accent5"/>
          </a:solidFill>
          <a:ln w="12700">
            <a:solidFill>
              <a:schemeClr val="accent5"/>
            </a:solidFill>
            <a:prstDash val="solid"/>
          </a:ln>
        </p:spPr>
      </p:sp>
      <p:sp>
        <p:nvSpPr>
          <p:cNvPr id="15" name="Step 3 badge"/>
          <p:cNvSpPr/>
          <p:nvPr/>
        </p:nvSpPr>
        <p:spPr>
          <a:xfrm>
            <a:off x="4876800" y="1965960"/>
            <a:ext cx="384048" cy="384048"/>
          </a:xfrm>
          <a:prstGeom prst="ellipse">
            <a:avLst/>
          </a:prstGeom>
          <a:solidFill>
            <a:schemeClr val="accent1"/>
          </a:solidFill>
          <a:ln w="12700">
            <a:solidFill>
              <a:schemeClr val="accent1"/>
            </a:solidFill>
            <a:prstDash val="solid"/>
          </a:ln>
        </p:spPr>
      </p:sp>
      <p:sp>
        <p:nvSpPr>
          <p:cNvPr id="16" name="Step 3 number"/>
          <p:cNvSpPr txBox="1"/>
          <p:nvPr/>
        </p:nvSpPr>
        <p:spPr>
          <a:xfrm>
            <a:off x="4876800" y="1965960"/>
            <a:ext cx="384048" cy="384048"/>
          </a:xfrm>
          <a:prstGeom prst="rect">
            <a:avLst/>
          </a:prstGeom>
          <a:noFill/>
          <a:ln/>
        </p:spPr>
        <p:txBody>
          <a:bodyPr wrap="square" lIns="0" tIns="0" rIns="0" bIns="0" rtlCol="0" anchor="ctr"/>
          <a:lstStyle/>
          <a:p>
            <a:pPr algn="ctr" indent="0" marL="0">
              <a:buNone/>
            </a:pPr>
            <a:r>
              <a:rPr lang="en-US" sz="1400" b="1" dirty="0">
                <a:solidFill>
                  <a:schemeClr val="tx1"/>
                </a:solidFill>
              </a:rPr>
              <a:t>3</a:t>
            </a:r>
            <a:endParaRPr lang="en-US" sz="1400" dirty="0"/>
          </a:p>
        </p:txBody>
      </p:sp>
      <p:sp>
        <p:nvSpPr>
          <p:cNvPr id="17" name="Step 3 heading"/>
          <p:cNvSpPr txBox="1"/>
          <p:nvPr/>
        </p:nvSpPr>
        <p:spPr>
          <a:xfrm>
            <a:off x="5379720" y="1965960"/>
            <a:ext cx="1051560" cy="384048"/>
          </a:xfrm>
          <a:prstGeom prst="rect">
            <a:avLst/>
          </a:prstGeom>
          <a:noFill/>
          <a:ln/>
        </p:spPr>
        <p:txBody>
          <a:bodyPr wrap="square" lIns="0" tIns="0" rIns="0" bIns="0" rtlCol="0" anchor="ctr"/>
          <a:lstStyle/>
          <a:p>
            <a:pPr indent="0" marL="0">
              <a:buNone/>
            </a:pPr>
            <a:r>
              <a:rPr lang="en-US" sz="1600" b="1" dirty="0">
                <a:solidFill>
                  <a:schemeClr val="bg1"/>
                </a:solidFill>
              </a:rPr>
              <a:t>Score</a:t>
            </a:r>
            <a:endParaRPr lang="en-US" sz="1600" dirty="0"/>
          </a:p>
        </p:txBody>
      </p:sp>
      <p:sp>
        <p:nvSpPr>
          <p:cNvPr id="18" name="Step 3 text"/>
          <p:cNvSpPr txBox="1"/>
          <p:nvPr/>
        </p:nvSpPr>
        <p:spPr>
          <a:xfrm>
            <a:off x="4876800" y="2496312"/>
            <a:ext cx="1508760" cy="777240"/>
          </a:xfrm>
          <a:prstGeom prst="rect">
            <a:avLst/>
          </a:prstGeom>
          <a:noFill/>
          <a:ln/>
        </p:spPr>
        <p:txBody>
          <a:bodyPr wrap="square" lIns="0" tIns="0" rIns="0" bIns="0" rtlCol="0" anchor="t"/>
          <a:lstStyle/>
          <a:p>
            <a:pPr indent="0" marL="0">
              <a:buNone/>
            </a:pPr>
            <a:r>
              <a:rPr lang="en-US" sz="1400" dirty="0">
                <a:solidFill>
                  <a:schemeClr val="bg2"/>
                </a:solidFill>
              </a:rPr>
              <a:t>Rule weights combine into one confidence.</a:t>
            </a:r>
            <a:endParaRPr lang="en-US" sz="1400" dirty="0"/>
          </a:p>
        </p:txBody>
      </p:sp>
      <p:sp>
        <p:nvSpPr>
          <p:cNvPr id="19" name="Step 4 card"/>
          <p:cNvSpPr/>
          <p:nvPr/>
        </p:nvSpPr>
        <p:spPr>
          <a:xfrm>
            <a:off x="6812280" y="1783080"/>
            <a:ext cx="1874520" cy="1600200"/>
          </a:xfrm>
          <a:prstGeom prst="roundRect">
            <a:avLst>
              <a:gd name="adj" fmla="val 4571"/>
            </a:avLst>
          </a:prstGeom>
          <a:solidFill>
            <a:schemeClr val="accent5"/>
          </a:solidFill>
          <a:ln w="12700">
            <a:solidFill>
              <a:schemeClr val="accent5"/>
            </a:solidFill>
            <a:prstDash val="solid"/>
          </a:ln>
        </p:spPr>
      </p:sp>
      <p:sp>
        <p:nvSpPr>
          <p:cNvPr id="20" name="Step 4 badge"/>
          <p:cNvSpPr/>
          <p:nvPr/>
        </p:nvSpPr>
        <p:spPr>
          <a:xfrm>
            <a:off x="6995160" y="1965960"/>
            <a:ext cx="384048" cy="384048"/>
          </a:xfrm>
          <a:prstGeom prst="ellipse">
            <a:avLst/>
          </a:prstGeom>
          <a:solidFill>
            <a:schemeClr val="accent1"/>
          </a:solidFill>
          <a:ln w="12700">
            <a:solidFill>
              <a:schemeClr val="accent1"/>
            </a:solidFill>
            <a:prstDash val="solid"/>
          </a:ln>
        </p:spPr>
      </p:sp>
      <p:sp>
        <p:nvSpPr>
          <p:cNvPr id="21" name="Step 4 number"/>
          <p:cNvSpPr txBox="1"/>
          <p:nvPr/>
        </p:nvSpPr>
        <p:spPr>
          <a:xfrm>
            <a:off x="6995160" y="1965960"/>
            <a:ext cx="384048" cy="384048"/>
          </a:xfrm>
          <a:prstGeom prst="rect">
            <a:avLst/>
          </a:prstGeom>
          <a:noFill/>
          <a:ln/>
        </p:spPr>
        <p:txBody>
          <a:bodyPr wrap="square" lIns="0" tIns="0" rIns="0" bIns="0" rtlCol="0" anchor="ctr"/>
          <a:lstStyle/>
          <a:p>
            <a:pPr algn="ctr" indent="0" marL="0">
              <a:buNone/>
            </a:pPr>
            <a:r>
              <a:rPr lang="en-US" sz="1400" b="1" dirty="0">
                <a:solidFill>
                  <a:schemeClr val="tx1"/>
                </a:solidFill>
              </a:rPr>
              <a:t>4</a:t>
            </a:r>
            <a:endParaRPr lang="en-US" sz="1400" dirty="0"/>
          </a:p>
        </p:txBody>
      </p:sp>
      <p:sp>
        <p:nvSpPr>
          <p:cNvPr id="22" name="Step 4 heading"/>
          <p:cNvSpPr txBox="1"/>
          <p:nvPr/>
        </p:nvSpPr>
        <p:spPr>
          <a:xfrm>
            <a:off x="7498080" y="1965960"/>
            <a:ext cx="1051560" cy="384048"/>
          </a:xfrm>
          <a:prstGeom prst="rect">
            <a:avLst/>
          </a:prstGeom>
          <a:noFill/>
          <a:ln/>
        </p:spPr>
        <p:txBody>
          <a:bodyPr wrap="square" lIns="0" tIns="0" rIns="0" bIns="0" rtlCol="0" anchor="ctr"/>
          <a:lstStyle/>
          <a:p>
            <a:pPr indent="0" marL="0">
              <a:buNone/>
            </a:pPr>
            <a:r>
              <a:rPr lang="en-US" sz="1600" b="1" dirty="0">
                <a:solidFill>
                  <a:schemeClr val="bg1"/>
                </a:solidFill>
              </a:rPr>
              <a:t>Hand off</a:t>
            </a:r>
            <a:endParaRPr lang="en-US" sz="1600" dirty="0"/>
          </a:p>
        </p:txBody>
      </p:sp>
      <p:sp>
        <p:nvSpPr>
          <p:cNvPr id="23" name="Step 4 text"/>
          <p:cNvSpPr txBox="1"/>
          <p:nvPr/>
        </p:nvSpPr>
        <p:spPr>
          <a:xfrm>
            <a:off x="6995160" y="2496312"/>
            <a:ext cx="1508760" cy="777240"/>
          </a:xfrm>
          <a:prstGeom prst="rect">
            <a:avLst/>
          </a:prstGeom>
          <a:noFill/>
          <a:ln/>
        </p:spPr>
        <p:txBody>
          <a:bodyPr wrap="square" lIns="0" tIns="0" rIns="0" bIns="0" rtlCol="0" anchor="t"/>
          <a:lstStyle/>
          <a:p>
            <a:pPr indent="0" marL="0">
              <a:buNone/>
            </a:pPr>
            <a:r>
              <a:rPr lang="en-US" sz="1400" dirty="0">
                <a:solidFill>
                  <a:schemeClr val="bg2"/>
                </a:solidFill>
              </a:rPr>
              <a:t>Verdict row to ClickHouse for the Actor.</a:t>
            </a:r>
            <a:endParaRPr lang="en-US" sz="1400" dirty="0"/>
          </a:p>
        </p:txBody>
      </p:sp>
      <p:sp>
        <p:nvSpPr>
          <p:cNvPr id="24" name="Evidence strip"/>
          <p:cNvSpPr/>
          <p:nvPr/>
        </p:nvSpPr>
        <p:spPr>
          <a:xfrm>
            <a:off x="457200" y="3611880"/>
            <a:ext cx="8229600" cy="868680"/>
          </a:xfrm>
          <a:prstGeom prst="roundRect">
            <a:avLst>
              <a:gd name="adj" fmla="val 8421"/>
            </a:avLst>
          </a:prstGeom>
          <a:solidFill>
            <a:schemeClr val="accent6"/>
          </a:solidFill>
          <a:ln w="12700">
            <a:solidFill>
              <a:schemeClr val="accent5"/>
            </a:solidFill>
            <a:prstDash val="solid"/>
          </a:ln>
        </p:spPr>
      </p:sp>
      <p:sp>
        <p:nvSpPr>
          <p:cNvPr id="25" name="Evidence label"/>
          <p:cNvSpPr txBox="1"/>
          <p:nvPr/>
        </p:nvSpPr>
        <p:spPr>
          <a:xfrm>
            <a:off x="685800" y="3685032"/>
            <a:ext cx="5486400" cy="256032"/>
          </a:xfrm>
          <a:prstGeom prst="rect">
            <a:avLst/>
          </a:prstGeom>
          <a:noFill/>
          <a:ln/>
        </p:spPr>
        <p:txBody>
          <a:bodyPr wrap="square" lIns="0" tIns="0" rIns="0" bIns="0" rtlCol="0" anchor="ctr"/>
          <a:lstStyle/>
          <a:p>
            <a:pPr indent="0" marL="0">
              <a:buNone/>
            </a:pPr>
            <a:r>
              <a:rPr lang="en-US" sz="1000" b="1" spc="100" kern="0" dirty="0">
                <a:solidFill>
                  <a:schemeClr val="accent1"/>
                </a:solidFill>
              </a:rPr>
              <a:t>SAMPLE VERDICT, DEMO PHISHING PAGE</a:t>
            </a:r>
            <a:endParaRPr lang="en-US" sz="1000" dirty="0"/>
          </a:p>
        </p:txBody>
      </p:sp>
      <p:sp>
        <p:nvSpPr>
          <p:cNvPr id="26" name="Evidence line"/>
          <p:cNvSpPr txBox="1"/>
          <p:nvPr/>
        </p:nvSpPr>
        <p:spPr>
          <a:xfrm>
            <a:off x="685800" y="3959352"/>
            <a:ext cx="5760720" cy="384048"/>
          </a:xfrm>
          <a:prstGeom prst="rect">
            <a:avLst/>
          </a:prstGeom>
          <a:noFill/>
          <a:ln/>
        </p:spPr>
        <p:txBody>
          <a:bodyPr wrap="square" lIns="0" tIns="0" rIns="0" bIns="0" rtlCol="0" anchor="ctr"/>
          <a:lstStyle/>
          <a:p>
            <a:pPr indent="0" marL="0">
              <a:buNone/>
            </a:pPr>
            <a:r>
              <a:rPr lang="en-US" sz="1400" dirty="0">
                <a:solidFill>
                  <a:schemeClr val="bg1"/>
                </a:solidFill>
                <a:latin typeface="Courier New" pitchFamily="34" charset="0"/>
                <a:ea typeface="Courier New" pitchFamily="34" charset="-122"/>
                <a:cs typeface="Courier New" pitchFamily="34" charset="-120"/>
              </a:rPr>
              <a:t>telegram-bot-exfil matched ext_0.js line 12</a:t>
            </a:r>
            <a:endParaRPr lang="en-US" sz="1400" dirty="0"/>
          </a:p>
        </p:txBody>
      </p:sp>
      <p:sp>
        <p:nvSpPr>
          <p:cNvPr id="27" name="Verdict pill"/>
          <p:cNvSpPr/>
          <p:nvPr/>
        </p:nvSpPr>
        <p:spPr>
          <a:xfrm>
            <a:off x="6675120" y="3813048"/>
            <a:ext cx="1783080" cy="457200"/>
          </a:xfrm>
          <a:prstGeom prst="roundRect">
            <a:avLst>
              <a:gd name="adj" fmla="val 50000"/>
            </a:avLst>
          </a:prstGeom>
          <a:solidFill>
            <a:schemeClr val="accent1"/>
          </a:solidFill>
          <a:ln w="12700">
            <a:solidFill>
              <a:schemeClr val="accent1"/>
            </a:solidFill>
            <a:prstDash val="solid"/>
          </a:ln>
        </p:spPr>
      </p:sp>
      <p:sp>
        <p:nvSpPr>
          <p:cNvPr id="28" name="Verdict pill text"/>
          <p:cNvSpPr txBox="1"/>
          <p:nvPr/>
        </p:nvSpPr>
        <p:spPr>
          <a:xfrm>
            <a:off x="6675120" y="3813048"/>
            <a:ext cx="1783080" cy="457200"/>
          </a:xfrm>
          <a:prstGeom prst="rect">
            <a:avLst/>
          </a:prstGeom>
          <a:noFill/>
          <a:ln/>
        </p:spPr>
        <p:txBody>
          <a:bodyPr wrap="square" lIns="0" tIns="0" rIns="0" bIns="0" rtlCol="0" anchor="ctr"/>
          <a:lstStyle/>
          <a:p>
            <a:pPr algn="ctr" indent="0" marL="0">
              <a:buNone/>
            </a:pPr>
            <a:r>
              <a:rPr lang="en-US" sz="1400" b="1" dirty="0">
                <a:solidFill>
                  <a:schemeClr val="tx1"/>
                </a:solidFill>
              </a:rPr>
              <a:t>VERIFIED  0.95</a:t>
            </a:r>
            <a:endParaRPr lang="en-US" sz="1400" dirty="0"/>
          </a:p>
        </p:txBody>
      </p:sp>
      <p:sp>
        <p:nvSpPr>
          <p:cNvPr id="25" name="Slide Number Placeholder 0"/>
          <p:cNvSpPr>
            <a:spLocks noGrp="1"/>
          </p:cNvSpPr>
          <p:nvPr>
            <p:ph type="sldNum" sz="quarter" idx="4294967295"/>
          </p:nvPr>
        </p:nvSpPr>
        <p:spPr>
          <a:xfrm>
            <a:off x="8229600" y="470916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1</a:t>
            </a:fld>
            <a:endParaRPr lang="en-US"/>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ph idx="100" type="title" hasCustomPrompt="1"/>
          </p:nvPr>
        </p:nvSpPr>
        <p:spPr>
          <a:xfrm>
            <a:off x="457200" y="320040"/>
            <a:ext cx="8229600" cy="640080"/>
          </a:xfrm>
          <a:prstGeom prst="rect">
            <a:avLst/>
          </a:prstGeom>
          <a:noFill/>
          <a:ln/>
        </p:spPr>
        <p:txBody>
          <a:bodyPr wrap="square" lIns="0" tIns="0" rIns="0" bIns="0" rtlCol="0" anchor="ctr"/>
          <a:lstStyle/>
          <a:p>
            <a:pPr algn="l" indent="0" marL="0">
              <a:buNone/>
            </a:pPr>
            <a:r>
              <a:rPr lang="en-US" sz="3600" b="1" dirty="0">
                <a:solidFill>
                  <a:schemeClr val="tx1"/>
                </a:solidFill>
              </a:rPr>
              <a:t>One JSON in, same JSON out</a:t>
            </a:r>
            <a:endParaRPr lang="en-US" sz="3600" dirty="0"/>
          </a:p>
        </p:txBody>
      </p:sp>
      <p:sp>
        <p:nvSpPr>
          <p:cNvPr id="3" name="Panel 1 heading"/>
          <p:cNvSpPr txBox="1"/>
          <p:nvPr/>
        </p:nvSpPr>
        <p:spPr>
          <a:xfrm>
            <a:off x="457200" y="1143000"/>
            <a:ext cx="3566160" cy="310896"/>
          </a:xfrm>
          <a:prstGeom prst="rect">
            <a:avLst/>
          </a:prstGeom>
          <a:noFill/>
          <a:ln/>
        </p:spPr>
        <p:txBody>
          <a:bodyPr wrap="square" lIns="0" tIns="0" rIns="0" bIns="0" rtlCol="0" anchor="ctr"/>
          <a:lstStyle/>
          <a:p>
            <a:pPr indent="0" marL="0">
              <a:buNone/>
            </a:pPr>
            <a:r>
              <a:rPr lang="en-US" sz="1400" b="1" dirty="0">
                <a:solidFill>
                  <a:schemeClr val="tx1"/>
                </a:solidFill>
              </a:rPr>
              <a:t>In: a pending event from ingestion</a:t>
            </a:r>
            <a:endParaRPr lang="en-US" sz="1400" dirty="0"/>
          </a:p>
        </p:txBody>
      </p:sp>
      <p:sp>
        <p:nvSpPr>
          <p:cNvPr id="4" name="Panel 1 background"/>
          <p:cNvSpPr/>
          <p:nvPr/>
        </p:nvSpPr>
        <p:spPr>
          <a:xfrm>
            <a:off x="457200" y="1508760"/>
            <a:ext cx="3566160" cy="2377440"/>
          </a:xfrm>
          <a:prstGeom prst="roundRect">
            <a:avLst>
              <a:gd name="adj" fmla="val 3077"/>
            </a:avLst>
          </a:prstGeom>
          <a:solidFill>
            <a:schemeClr val="tx1"/>
          </a:solidFill>
          <a:ln w="12700">
            <a:solidFill>
              <a:schemeClr val="tx1"/>
            </a:solidFill>
            <a:prstDash val="solid"/>
          </a:ln>
        </p:spPr>
      </p:sp>
      <p:sp>
        <p:nvSpPr>
          <p:cNvPr id="5" name="Panel 1 JSON"/>
          <p:cNvSpPr txBox="1"/>
          <p:nvPr/>
        </p:nvSpPr>
        <p:spPr>
          <a:xfrm>
            <a:off x="594360" y="1600200"/>
            <a:ext cx="3383280" cy="2194560"/>
          </a:xfrm>
          <a:prstGeom prst="rect">
            <a:avLst/>
          </a:prstGeom>
          <a:noFill/>
          <a:ln/>
        </p:spPr>
        <p:txBody>
          <a:bodyPr wrap="square" lIns="0" tIns="0" rIns="0" bIns="0" rtlCol="0" anchor="ctr"/>
          <a:lstStyle/>
          <a:p>
            <a:pPr indent="0" marL="0">
              <a:lnSpc>
                <a:spcPct val="125000"/>
              </a:lnSpc>
              <a:buNone/>
            </a:pPr>
            <a:r>
              <a:rPr lang="en-US" sz="1100" dirty="0">
                <a:solidFill>
                  <a:schemeClr val="bg2"/>
                </a:solidFill>
                <a:latin typeface="Courier New" pitchFamily="34" charset="0"/>
                <a:ea typeface="Courier New" pitchFamily="34" charset="-122"/>
                <a:cs typeface="Courier New" pitchFamily="34" charset="-120"/>
              </a:rPr>
              <a:t>{</a:t>
            </a:r>
            <a:endParaRPr lang="en-US" sz="1100" dirty="0"/>
          </a:p>
          <a:p>
            <a:pPr indent="0" marL="0">
              <a:lnSpc>
                <a:spcPct val="125000"/>
              </a:lnSpc>
              <a:buNone/>
            </a:pPr>
            <a:r>
              <a:rPr lang="en-US" sz="1100" dirty="0">
                <a:solidFill>
                  <a:schemeClr val="bg2"/>
                </a:solidFill>
                <a:latin typeface="Courier New" pitchFamily="34" charset="0"/>
                <a:ea typeface="Courier New" pitchFamily="34" charset="-122"/>
                <a:cs typeface="Courier New" pitchFamily="34" charset="-120"/>
              </a:rPr>
              <a:t>  "event_id": "evt-10928",</a:t>
            </a:r>
            <a:endParaRPr lang="en-US" sz="1100" dirty="0"/>
          </a:p>
          <a:p>
            <a:pPr indent="0" marL="0">
              <a:lnSpc>
                <a:spcPct val="125000"/>
              </a:lnSpc>
              <a:buNone/>
            </a:pPr>
            <a:r>
              <a:rPr lang="en-US" sz="1100" dirty="0">
                <a:solidFill>
                  <a:schemeClr val="bg2"/>
                </a:solidFill>
                <a:latin typeface="Courier New" pitchFamily="34" charset="0"/>
                <a:ea typeface="Courier New" pitchFamily="34" charset="-122"/>
                <a:cs typeface="Courier New" pitchFamily="34" charset="-120"/>
              </a:rPr>
              <a:t>  "target_url": "https://bad.example",</a:t>
            </a:r>
            <a:endParaRPr lang="en-US" sz="1100" dirty="0"/>
          </a:p>
          <a:p>
            <a:pPr indent="0" marL="0">
              <a:lnSpc>
                <a:spcPct val="125000"/>
              </a:lnSpc>
              <a:buNone/>
            </a:pPr>
            <a:r>
              <a:rPr lang="en-US" sz="1100" dirty="0">
                <a:solidFill>
                  <a:schemeClr val="bg2"/>
                </a:solidFill>
                <a:latin typeface="Courier New" pitchFamily="34" charset="0"/>
                <a:ea typeface="Courier New" pitchFamily="34" charset="-122"/>
                <a:cs typeface="Courier New" pitchFamily="34" charset="-120"/>
              </a:rPr>
              <a:t>  "timestamp": "2026-10-09T18:00:00Z",</a:t>
            </a:r>
            <a:endParaRPr lang="en-US" sz="1100" dirty="0"/>
          </a:p>
          <a:p>
            <a:pPr indent="0" marL="0">
              <a:lnSpc>
                <a:spcPct val="125000"/>
              </a:lnSpc>
              <a:buNone/>
            </a:pPr>
            <a:r>
              <a:rPr lang="en-US" sz="1100" dirty="0">
                <a:solidFill>
                  <a:schemeClr val="accent4"/>
                </a:solidFill>
                <a:latin typeface="Courier New" pitchFamily="34" charset="0"/>
                <a:ea typeface="Courier New" pitchFamily="34" charset="-122"/>
                <a:cs typeface="Courier New" pitchFamily="34" charset="-120"/>
              </a:rPr>
              <a:t>  "semgrep_detected": null,</a:t>
            </a:r>
            <a:endParaRPr lang="en-US" sz="1100" dirty="0"/>
          </a:p>
          <a:p>
            <a:pPr indent="0" marL="0">
              <a:lnSpc>
                <a:spcPct val="125000"/>
              </a:lnSpc>
              <a:buNone/>
            </a:pPr>
            <a:r>
              <a:rPr lang="en-US" sz="1100" dirty="0">
                <a:solidFill>
                  <a:schemeClr val="accent4"/>
                </a:solidFill>
                <a:latin typeface="Courier New" pitchFamily="34" charset="0"/>
                <a:ea typeface="Courier New" pitchFamily="34" charset="-122"/>
                <a:cs typeface="Courier New" pitchFamily="34" charset="-120"/>
              </a:rPr>
              <a:t>  "confidence_score": null,</a:t>
            </a:r>
            <a:endParaRPr lang="en-US" sz="1100" dirty="0"/>
          </a:p>
          <a:p>
            <a:pPr indent="0" marL="0">
              <a:lnSpc>
                <a:spcPct val="125000"/>
              </a:lnSpc>
              <a:buNone/>
            </a:pPr>
            <a:r>
              <a:rPr lang="en-US" sz="1100" dirty="0">
                <a:solidFill>
                  <a:schemeClr val="accent4"/>
                </a:solidFill>
                <a:latin typeface="Courier New" pitchFamily="34" charset="0"/>
                <a:ea typeface="Courier New" pitchFamily="34" charset="-122"/>
                <a:cs typeface="Courier New" pitchFamily="34" charset="-120"/>
              </a:rPr>
              <a:t>  "evidence": "",</a:t>
            </a:r>
            <a:endParaRPr lang="en-US" sz="1100" dirty="0"/>
          </a:p>
          <a:p>
            <a:pPr indent="0" marL="0">
              <a:lnSpc>
                <a:spcPct val="125000"/>
              </a:lnSpc>
              <a:buNone/>
            </a:pPr>
            <a:r>
              <a:rPr lang="en-US" sz="1100" dirty="0">
                <a:solidFill>
                  <a:schemeClr val="accent4"/>
                </a:solidFill>
                <a:latin typeface="Courier New" pitchFamily="34" charset="0"/>
                <a:ea typeface="Courier New" pitchFamily="34" charset="-122"/>
                <a:cs typeface="Courier New" pitchFamily="34" charset="-120"/>
              </a:rPr>
              <a:t>  "action_status": "PENDING",</a:t>
            </a:r>
            <a:endParaRPr lang="en-US" sz="1100" dirty="0"/>
          </a:p>
          <a:p>
            <a:pPr indent="0" marL="0">
              <a:lnSpc>
                <a:spcPct val="125000"/>
              </a:lnSpc>
              <a:buNone/>
            </a:pPr>
            <a:r>
              <a:rPr lang="en-US" sz="1100" dirty="0">
                <a:solidFill>
                  <a:schemeClr val="bg2"/>
                </a:solidFill>
                <a:latin typeface="Courier New" pitchFamily="34" charset="0"/>
                <a:ea typeface="Courier New" pitchFamily="34" charset="-122"/>
                <a:cs typeface="Courier New" pitchFamily="34" charset="-120"/>
              </a:rPr>
              <a:t>  "proof_url": ""</a:t>
            </a:r>
            <a:endParaRPr lang="en-US" sz="1100" dirty="0"/>
          </a:p>
          <a:p>
            <a:pPr indent="0" marL="0">
              <a:lnSpc>
                <a:spcPct val="125000"/>
              </a:lnSpc>
              <a:buNone/>
            </a:pPr>
            <a:r>
              <a:rPr lang="en-US" sz="1100" dirty="0">
                <a:solidFill>
                  <a:schemeClr val="bg2"/>
                </a:solidFill>
                <a:latin typeface="Courier New" pitchFamily="34" charset="0"/>
                <a:ea typeface="Courier New" pitchFamily="34" charset="-122"/>
                <a:cs typeface="Courier New" pitchFamily="34" charset="-120"/>
              </a:rPr>
              <a:t>}</a:t>
            </a:r>
            <a:endParaRPr lang="en-US" sz="1100" dirty="0"/>
          </a:p>
        </p:txBody>
      </p:sp>
      <p:sp>
        <p:nvSpPr>
          <p:cNvPr id="6" name="Panel 2 heading"/>
          <p:cNvSpPr txBox="1"/>
          <p:nvPr/>
        </p:nvSpPr>
        <p:spPr>
          <a:xfrm>
            <a:off x="4297680" y="1143000"/>
            <a:ext cx="4389120" cy="310896"/>
          </a:xfrm>
          <a:prstGeom prst="rect">
            <a:avLst/>
          </a:prstGeom>
          <a:noFill/>
          <a:ln/>
        </p:spPr>
        <p:txBody>
          <a:bodyPr wrap="square" lIns="0" tIns="0" rIns="0" bIns="0" rtlCol="0" anchor="ctr"/>
          <a:lstStyle/>
          <a:p>
            <a:pPr indent="0" marL="0">
              <a:buNone/>
            </a:pPr>
            <a:r>
              <a:rPr lang="en-US" sz="1400" b="1" dirty="0">
                <a:solidFill>
                  <a:schemeClr val="tx1"/>
                </a:solidFill>
              </a:rPr>
              <a:t>Out: the verdict, for the Actor</a:t>
            </a:r>
            <a:endParaRPr lang="en-US" sz="1400" dirty="0"/>
          </a:p>
        </p:txBody>
      </p:sp>
      <p:sp>
        <p:nvSpPr>
          <p:cNvPr id="7" name="Panel 2 background"/>
          <p:cNvSpPr/>
          <p:nvPr/>
        </p:nvSpPr>
        <p:spPr>
          <a:xfrm>
            <a:off x="4297680" y="1508760"/>
            <a:ext cx="4389120" cy="2377440"/>
          </a:xfrm>
          <a:prstGeom prst="roundRect">
            <a:avLst>
              <a:gd name="adj" fmla="val 3077"/>
            </a:avLst>
          </a:prstGeom>
          <a:solidFill>
            <a:schemeClr val="tx1"/>
          </a:solidFill>
          <a:ln w="12700">
            <a:solidFill>
              <a:schemeClr val="tx1"/>
            </a:solidFill>
            <a:prstDash val="solid"/>
          </a:ln>
        </p:spPr>
      </p:sp>
      <p:sp>
        <p:nvSpPr>
          <p:cNvPr id="8" name="Panel 2 JSON"/>
          <p:cNvSpPr txBox="1"/>
          <p:nvPr/>
        </p:nvSpPr>
        <p:spPr>
          <a:xfrm>
            <a:off x="4434840" y="1600200"/>
            <a:ext cx="4206240" cy="2194560"/>
          </a:xfrm>
          <a:prstGeom prst="rect">
            <a:avLst/>
          </a:prstGeom>
          <a:noFill/>
          <a:ln/>
        </p:spPr>
        <p:txBody>
          <a:bodyPr wrap="square" lIns="0" tIns="0" rIns="0" bIns="0" rtlCol="0" anchor="ctr"/>
          <a:lstStyle/>
          <a:p>
            <a:pPr indent="0" marL="0">
              <a:lnSpc>
                <a:spcPct val="125000"/>
              </a:lnSpc>
              <a:buNone/>
            </a:pPr>
            <a:r>
              <a:rPr lang="en-US" sz="1100" dirty="0">
                <a:solidFill>
                  <a:schemeClr val="bg2"/>
                </a:solidFill>
                <a:latin typeface="Courier New" pitchFamily="34" charset="0"/>
                <a:ea typeface="Courier New" pitchFamily="34" charset="-122"/>
                <a:cs typeface="Courier New" pitchFamily="34" charset="-120"/>
              </a:rPr>
              <a:t>{</a:t>
            </a:r>
            <a:endParaRPr lang="en-US" sz="1100" dirty="0"/>
          </a:p>
          <a:p>
            <a:pPr indent="0" marL="0">
              <a:lnSpc>
                <a:spcPct val="125000"/>
              </a:lnSpc>
              <a:buNone/>
            </a:pPr>
            <a:r>
              <a:rPr lang="en-US" sz="1100" dirty="0">
                <a:solidFill>
                  <a:schemeClr val="bg2"/>
                </a:solidFill>
                <a:latin typeface="Courier New" pitchFamily="34" charset="0"/>
                <a:ea typeface="Courier New" pitchFamily="34" charset="-122"/>
                <a:cs typeface="Courier New" pitchFamily="34" charset="-120"/>
              </a:rPr>
              <a:t>  "event_id": "evt-10928",</a:t>
            </a:r>
            <a:endParaRPr lang="en-US" sz="1100" dirty="0"/>
          </a:p>
          <a:p>
            <a:pPr indent="0" marL="0">
              <a:lnSpc>
                <a:spcPct val="125000"/>
              </a:lnSpc>
              <a:buNone/>
            </a:pPr>
            <a:r>
              <a:rPr lang="en-US" sz="1100" dirty="0">
                <a:solidFill>
                  <a:schemeClr val="bg2"/>
                </a:solidFill>
                <a:latin typeface="Courier New" pitchFamily="34" charset="0"/>
                <a:ea typeface="Courier New" pitchFamily="34" charset="-122"/>
                <a:cs typeface="Courier New" pitchFamily="34" charset="-120"/>
              </a:rPr>
              <a:t>  "target_url": "https://bad.example",</a:t>
            </a:r>
            <a:endParaRPr lang="en-US" sz="1100" dirty="0"/>
          </a:p>
          <a:p>
            <a:pPr indent="0" marL="0">
              <a:lnSpc>
                <a:spcPct val="125000"/>
              </a:lnSpc>
              <a:buNone/>
            </a:pPr>
            <a:r>
              <a:rPr lang="en-US" sz="1100" dirty="0">
                <a:solidFill>
                  <a:schemeClr val="bg2"/>
                </a:solidFill>
                <a:latin typeface="Courier New" pitchFamily="34" charset="0"/>
                <a:ea typeface="Courier New" pitchFamily="34" charset="-122"/>
                <a:cs typeface="Courier New" pitchFamily="34" charset="-120"/>
              </a:rPr>
              <a:t>  "timestamp": "2026-10-09T18:00:00Z",</a:t>
            </a:r>
            <a:endParaRPr lang="en-US" sz="1100" dirty="0"/>
          </a:p>
          <a:p>
            <a:pPr indent="0" marL="0">
              <a:lnSpc>
                <a:spcPct val="125000"/>
              </a:lnSpc>
              <a:buNone/>
            </a:pPr>
            <a:r>
              <a:rPr lang="en-US" sz="1100" b="1" dirty="0">
                <a:solidFill>
                  <a:schemeClr val="accent1"/>
                </a:solidFill>
                <a:latin typeface="Courier New" pitchFamily="34" charset="0"/>
                <a:ea typeface="Courier New" pitchFamily="34" charset="-122"/>
                <a:cs typeface="Courier New" pitchFamily="34" charset="-120"/>
              </a:rPr>
              <a:t>  "semgrep_detected": true,</a:t>
            </a:r>
            <a:endParaRPr lang="en-US" sz="1100" dirty="0"/>
          </a:p>
          <a:p>
            <a:pPr indent="0" marL="0">
              <a:lnSpc>
                <a:spcPct val="125000"/>
              </a:lnSpc>
              <a:buNone/>
            </a:pPr>
            <a:r>
              <a:rPr lang="en-US" sz="1100" b="1" dirty="0">
                <a:solidFill>
                  <a:schemeClr val="accent1"/>
                </a:solidFill>
                <a:latin typeface="Courier New" pitchFamily="34" charset="0"/>
                <a:ea typeface="Courier New" pitchFamily="34" charset="-122"/>
                <a:cs typeface="Courier New" pitchFamily="34" charset="-120"/>
              </a:rPr>
              <a:t>  "confidence_score": 0.95,</a:t>
            </a:r>
            <a:endParaRPr lang="en-US" sz="1100" dirty="0"/>
          </a:p>
          <a:p>
            <a:pPr indent="0" marL="0">
              <a:lnSpc>
                <a:spcPct val="125000"/>
              </a:lnSpc>
              <a:buNone/>
            </a:pPr>
            <a:r>
              <a:rPr lang="en-US" sz="1100" b="1" dirty="0">
                <a:solidFill>
                  <a:schemeClr val="accent1"/>
                </a:solidFill>
                <a:latin typeface="Courier New" pitchFamily="34" charset="0"/>
                <a:ea typeface="Courier New" pitchFamily="34" charset="-122"/>
                <a:cs typeface="Courier New" pitchFamily="34" charset="-120"/>
              </a:rPr>
              <a:t>  "evidence": "telegram-bot-exfil ext_0.js:12",</a:t>
            </a:r>
            <a:endParaRPr lang="en-US" sz="1100" dirty="0"/>
          </a:p>
          <a:p>
            <a:pPr indent="0" marL="0">
              <a:lnSpc>
                <a:spcPct val="125000"/>
              </a:lnSpc>
              <a:buNone/>
            </a:pPr>
            <a:r>
              <a:rPr lang="en-US" sz="1100" b="1" dirty="0">
                <a:solidFill>
                  <a:schemeClr val="accent1"/>
                </a:solidFill>
                <a:latin typeface="Courier New" pitchFamily="34" charset="0"/>
                <a:ea typeface="Courier New" pitchFamily="34" charset="-122"/>
                <a:cs typeface="Courier New" pitchFamily="34" charset="-120"/>
              </a:rPr>
              <a:t>  "action_status": "VERIFIED",</a:t>
            </a:r>
            <a:endParaRPr lang="en-US" sz="1100" dirty="0"/>
          </a:p>
          <a:p>
            <a:pPr indent="0" marL="0">
              <a:lnSpc>
                <a:spcPct val="125000"/>
              </a:lnSpc>
              <a:buNone/>
            </a:pPr>
            <a:r>
              <a:rPr lang="en-US" sz="1100" dirty="0">
                <a:solidFill>
                  <a:schemeClr val="bg2"/>
                </a:solidFill>
                <a:latin typeface="Courier New" pitchFamily="34" charset="0"/>
                <a:ea typeface="Courier New" pitchFamily="34" charset="-122"/>
                <a:cs typeface="Courier New" pitchFamily="34" charset="-120"/>
              </a:rPr>
              <a:t>  "proof_url": ""</a:t>
            </a:r>
            <a:endParaRPr lang="en-US" sz="1100" dirty="0"/>
          </a:p>
          <a:p>
            <a:pPr indent="0" marL="0">
              <a:lnSpc>
                <a:spcPct val="125000"/>
              </a:lnSpc>
              <a:buNone/>
            </a:pPr>
            <a:r>
              <a:rPr lang="en-US" sz="1100" dirty="0">
                <a:solidFill>
                  <a:schemeClr val="bg2"/>
                </a:solidFill>
                <a:latin typeface="Courier New" pitchFamily="34" charset="0"/>
                <a:ea typeface="Courier New" pitchFamily="34" charset="-122"/>
                <a:cs typeface="Courier New" pitchFamily="34" charset="-120"/>
              </a:rPr>
              <a:t>}</a:t>
            </a:r>
            <a:endParaRPr lang="en-US" sz="1100" dirty="0"/>
          </a:p>
        </p:txBody>
      </p:sp>
      <p:sp>
        <p:nvSpPr>
          <p:cNvPr id="9" name="In to out arrow"/>
          <p:cNvSpPr/>
          <p:nvPr/>
        </p:nvSpPr>
        <p:spPr>
          <a:xfrm>
            <a:off x="4050792" y="2606040"/>
            <a:ext cx="219456" cy="182880"/>
          </a:xfrm>
          <a:prstGeom prst="rightArrow">
            <a:avLst/>
          </a:prstGeom>
          <a:solidFill>
            <a:schemeClr val="accent4"/>
          </a:solidFill>
          <a:ln w="12700">
            <a:solidFill>
              <a:schemeClr val="accent4"/>
            </a:solidFill>
            <a:prstDash val="solid"/>
          </a:ln>
        </p:spPr>
      </p:sp>
      <p:sp>
        <p:nvSpPr>
          <p:cNvPr id="10" name="Legend dot"/>
          <p:cNvSpPr/>
          <p:nvPr/>
        </p:nvSpPr>
        <p:spPr>
          <a:xfrm>
            <a:off x="457200" y="4087368"/>
            <a:ext cx="146304" cy="146304"/>
          </a:xfrm>
          <a:prstGeom prst="ellipse">
            <a:avLst/>
          </a:prstGeom>
          <a:solidFill>
            <a:schemeClr val="accent1"/>
          </a:solidFill>
          <a:ln w="12700">
            <a:solidFill>
              <a:schemeClr val="accent1"/>
            </a:solidFill>
            <a:prstDash val="solid"/>
          </a:ln>
        </p:spPr>
      </p:sp>
      <p:sp>
        <p:nvSpPr>
          <p:cNvPr id="11" name="Legend"/>
          <p:cNvSpPr txBox="1"/>
          <p:nvPr/>
        </p:nvSpPr>
        <p:spPr>
          <a:xfrm>
            <a:off x="685800" y="4005072"/>
            <a:ext cx="8001000" cy="310896"/>
          </a:xfrm>
          <a:prstGeom prst="rect">
            <a:avLst/>
          </a:prstGeom>
          <a:noFill/>
          <a:ln/>
        </p:spPr>
        <p:txBody>
          <a:bodyPr wrap="square" lIns="0" tIns="0" rIns="0" bIns="0" rtlCol="0" anchor="ctr"/>
          <a:lstStyle/>
          <a:p>
            <a:pPr indent="0" marL="0">
              <a:buNone/>
            </a:pPr>
            <a:r>
              <a:rPr lang="en-US" sz="1400" b="1" dirty="0">
                <a:solidFill>
                  <a:schemeClr val="tx1"/>
                </a:solidFill>
              </a:rPr>
              <a:t>The Brain fills four fields. The other four pass through unchanged.</a:t>
            </a:r>
            <a:endParaRPr lang="en-US" sz="1400" dirty="0"/>
          </a:p>
        </p:txBody>
      </p:sp>
      <p:sp>
        <p:nvSpPr>
          <p:cNvPr id="12" name="Status caption"/>
          <p:cNvSpPr txBox="1"/>
          <p:nvPr/>
        </p:nvSpPr>
        <p:spPr>
          <a:xfrm>
            <a:off x="457200" y="4352544"/>
            <a:ext cx="8229600" cy="274320"/>
          </a:xfrm>
          <a:prstGeom prst="rect">
            <a:avLst/>
          </a:prstGeom>
          <a:noFill/>
          <a:ln/>
        </p:spPr>
        <p:txBody>
          <a:bodyPr wrap="square" lIns="0" tIns="0" rIns="0" bIns="0" rtlCol="0" anchor="t"/>
          <a:lstStyle/>
          <a:p>
            <a:pPr indent="0" marL="0">
              <a:buNone/>
            </a:pPr>
            <a:r>
              <a:rPr lang="en-US" sz="1100" dirty="0">
                <a:solidFill>
                  <a:schemeClr val="accent4"/>
                </a:solidFill>
              </a:rPr>
              <a:t>VERIFIED at a score of 0.6 or above, otherwise REJECTED, or FETCH_FAILED when the site is unreachable. Evidence is shortened here.</a:t>
            </a:r>
            <a:endParaRPr lang="en-US" sz="1100" dirty="0"/>
          </a:p>
        </p:txBody>
      </p:sp>
      <p:sp>
        <p:nvSpPr>
          <p:cNvPr id="25" name="Slide Number Placeholder 0"/>
          <p:cNvSpPr>
            <a:spLocks noGrp="1"/>
          </p:cNvSpPr>
          <p:nvPr>
            <p:ph type="sldNum" sz="quarter" idx="4294967295"/>
          </p:nvPr>
        </p:nvSpPr>
        <p:spPr>
          <a:xfrm>
            <a:off x="8229600" y="470916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ph idx="100" type="title" hasCustomPrompt="1"/>
          </p:nvPr>
        </p:nvSpPr>
        <p:spPr>
          <a:xfrm>
            <a:off x="457200" y="320040"/>
            <a:ext cx="8229600" cy="640080"/>
          </a:xfrm>
          <a:prstGeom prst="rect">
            <a:avLst/>
          </a:prstGeom>
          <a:noFill/>
          <a:ln/>
        </p:spPr>
        <p:txBody>
          <a:bodyPr wrap="square" lIns="0" tIns="0" rIns="0" bIns="0" rtlCol="0" anchor="ctr"/>
          <a:lstStyle/>
          <a:p>
            <a:pPr algn="l" indent="0" marL="0">
              <a:buNone/>
            </a:pPr>
            <a:r>
              <a:rPr lang="en-US" sz="3600" b="1" dirty="0">
                <a:solidFill>
                  <a:schemeClr val="tx1"/>
                </a:solidFill>
              </a:rPr>
              <a:t>Catches theft, spares real logins</a:t>
            </a:r>
            <a:endParaRPr lang="en-US" sz="3600" dirty="0"/>
          </a:p>
        </p:txBody>
      </p:sp>
      <p:sp>
        <p:nvSpPr>
          <p:cNvPr id="3" name="Stat 1 card"/>
          <p:cNvSpPr/>
          <p:nvPr/>
        </p:nvSpPr>
        <p:spPr>
          <a:xfrm>
            <a:off x="457200" y="1188720"/>
            <a:ext cx="1783080" cy="1325880"/>
          </a:xfrm>
          <a:prstGeom prst="roundRect">
            <a:avLst>
              <a:gd name="adj" fmla="val 5517"/>
            </a:avLst>
          </a:prstGeom>
          <a:solidFill>
            <a:schemeClr val="bg2"/>
          </a:solidFill>
          <a:ln w="12700">
            <a:solidFill>
              <a:schemeClr val="bg2"/>
            </a:solidFill>
            <a:prstDash val="solid"/>
          </a:ln>
        </p:spPr>
      </p:sp>
      <p:sp>
        <p:nvSpPr>
          <p:cNvPr id="4" name="Stat 1 value"/>
          <p:cNvSpPr txBox="1"/>
          <p:nvPr/>
        </p:nvSpPr>
        <p:spPr>
          <a:xfrm>
            <a:off x="594360" y="1325880"/>
            <a:ext cx="1508760" cy="685800"/>
          </a:xfrm>
          <a:prstGeom prst="rect">
            <a:avLst/>
          </a:prstGeom>
          <a:noFill/>
          <a:ln/>
        </p:spPr>
        <p:txBody>
          <a:bodyPr wrap="square" lIns="0" tIns="0" rIns="0" bIns="0" rtlCol="0" anchor="ctr"/>
          <a:lstStyle/>
          <a:p>
            <a:pPr indent="0" marL="0">
              <a:buNone/>
            </a:pPr>
            <a:r>
              <a:rPr lang="en-US" sz="4000" b="1" dirty="0">
                <a:solidFill>
                  <a:schemeClr val="accent1"/>
                </a:solidFill>
              </a:rPr>
              <a:t>7 / 7</a:t>
            </a:r>
            <a:endParaRPr lang="en-US" sz="4000" dirty="0"/>
          </a:p>
        </p:txBody>
      </p:sp>
      <p:sp>
        <p:nvSpPr>
          <p:cNvPr id="5" name="Stat 1 label"/>
          <p:cNvSpPr txBox="1"/>
          <p:nvPr/>
        </p:nvSpPr>
        <p:spPr>
          <a:xfrm>
            <a:off x="594360" y="2029968"/>
            <a:ext cx="1508760" cy="365760"/>
          </a:xfrm>
          <a:prstGeom prst="rect">
            <a:avLst/>
          </a:prstGeom>
          <a:noFill/>
          <a:ln/>
        </p:spPr>
        <p:txBody>
          <a:bodyPr wrap="square" lIns="0" tIns="0" rIns="0" bIns="0" rtlCol="0" anchor="t"/>
          <a:lstStyle/>
          <a:p>
            <a:pPr indent="0" marL="0">
              <a:buNone/>
            </a:pPr>
            <a:r>
              <a:rPr lang="en-US" sz="1200" dirty="0">
                <a:solidFill>
                  <a:schemeClr val="tx2"/>
                </a:solidFill>
              </a:rPr>
              <a:t>malicious samples detected</a:t>
            </a:r>
            <a:endParaRPr lang="en-US" sz="1200" dirty="0"/>
          </a:p>
        </p:txBody>
      </p:sp>
      <p:sp>
        <p:nvSpPr>
          <p:cNvPr id="6" name="Stat 2 card"/>
          <p:cNvSpPr/>
          <p:nvPr/>
        </p:nvSpPr>
        <p:spPr>
          <a:xfrm>
            <a:off x="2423160" y="1188720"/>
            <a:ext cx="1783080" cy="1325880"/>
          </a:xfrm>
          <a:prstGeom prst="roundRect">
            <a:avLst>
              <a:gd name="adj" fmla="val 5517"/>
            </a:avLst>
          </a:prstGeom>
          <a:solidFill>
            <a:schemeClr val="bg2"/>
          </a:solidFill>
          <a:ln w="12700">
            <a:solidFill>
              <a:schemeClr val="bg2"/>
            </a:solidFill>
            <a:prstDash val="solid"/>
          </a:ln>
        </p:spPr>
      </p:sp>
      <p:sp>
        <p:nvSpPr>
          <p:cNvPr id="7" name="Stat 2 value"/>
          <p:cNvSpPr txBox="1"/>
          <p:nvPr/>
        </p:nvSpPr>
        <p:spPr>
          <a:xfrm>
            <a:off x="2560320" y="1325880"/>
            <a:ext cx="1508760" cy="685800"/>
          </a:xfrm>
          <a:prstGeom prst="rect">
            <a:avLst/>
          </a:prstGeom>
          <a:noFill/>
          <a:ln/>
        </p:spPr>
        <p:txBody>
          <a:bodyPr wrap="square" lIns="0" tIns="0" rIns="0" bIns="0" rtlCol="0" anchor="ctr"/>
          <a:lstStyle/>
          <a:p>
            <a:pPr indent="0" marL="0">
              <a:buNone/>
            </a:pPr>
            <a:r>
              <a:rPr lang="en-US" sz="4000" b="1" dirty="0">
                <a:solidFill>
                  <a:schemeClr val="accent1"/>
                </a:solidFill>
              </a:rPr>
              <a:t>0 / 8</a:t>
            </a:r>
            <a:endParaRPr lang="en-US" sz="4000" dirty="0"/>
          </a:p>
        </p:txBody>
      </p:sp>
      <p:sp>
        <p:nvSpPr>
          <p:cNvPr id="8" name="Stat 2 label"/>
          <p:cNvSpPr txBox="1"/>
          <p:nvPr/>
        </p:nvSpPr>
        <p:spPr>
          <a:xfrm>
            <a:off x="2560320" y="2029968"/>
            <a:ext cx="1508760" cy="365760"/>
          </a:xfrm>
          <a:prstGeom prst="rect">
            <a:avLst/>
          </a:prstGeom>
          <a:noFill/>
          <a:ln/>
        </p:spPr>
        <p:txBody>
          <a:bodyPr wrap="square" lIns="0" tIns="0" rIns="0" bIns="0" rtlCol="0" anchor="t"/>
          <a:lstStyle/>
          <a:p>
            <a:pPr indent="0" marL="0">
              <a:buNone/>
            </a:pPr>
            <a:r>
              <a:rPr lang="en-US" sz="1200" dirty="0">
                <a:solidFill>
                  <a:schemeClr val="tx2"/>
                </a:solidFill>
              </a:rPr>
              <a:t>benign pages flagged</a:t>
            </a:r>
            <a:endParaRPr lang="en-US" sz="1200" dirty="0"/>
          </a:p>
        </p:txBody>
      </p:sp>
      <p:sp>
        <p:nvSpPr>
          <p:cNvPr id="9" name="Stat 3 card"/>
          <p:cNvSpPr/>
          <p:nvPr/>
        </p:nvSpPr>
        <p:spPr>
          <a:xfrm>
            <a:off x="457200" y="2697480"/>
            <a:ext cx="1783080" cy="1325880"/>
          </a:xfrm>
          <a:prstGeom prst="roundRect">
            <a:avLst>
              <a:gd name="adj" fmla="val 5517"/>
            </a:avLst>
          </a:prstGeom>
          <a:solidFill>
            <a:schemeClr val="bg2"/>
          </a:solidFill>
          <a:ln w="12700">
            <a:solidFill>
              <a:schemeClr val="bg2"/>
            </a:solidFill>
            <a:prstDash val="solid"/>
          </a:ln>
        </p:spPr>
      </p:sp>
      <p:sp>
        <p:nvSpPr>
          <p:cNvPr id="10" name="Stat 3 value"/>
          <p:cNvSpPr txBox="1"/>
          <p:nvPr/>
        </p:nvSpPr>
        <p:spPr>
          <a:xfrm>
            <a:off x="594360" y="2834640"/>
            <a:ext cx="1508760" cy="685800"/>
          </a:xfrm>
          <a:prstGeom prst="rect">
            <a:avLst/>
          </a:prstGeom>
          <a:noFill/>
          <a:ln/>
        </p:spPr>
        <p:txBody>
          <a:bodyPr wrap="square" lIns="0" tIns="0" rIns="0" bIns="0" rtlCol="0" anchor="ctr"/>
          <a:lstStyle/>
          <a:p>
            <a:pPr indent="0" marL="0">
              <a:buNone/>
            </a:pPr>
            <a:r>
              <a:rPr lang="en-US" sz="4000" b="1" dirty="0">
                <a:solidFill>
                  <a:schemeClr val="tx1"/>
                </a:solidFill>
              </a:rPr>
              <a:t>3.5 s</a:t>
            </a:r>
            <a:endParaRPr lang="en-US" sz="4000" dirty="0"/>
          </a:p>
        </p:txBody>
      </p:sp>
      <p:sp>
        <p:nvSpPr>
          <p:cNvPr id="11" name="Stat 3 label"/>
          <p:cNvSpPr txBox="1"/>
          <p:nvPr/>
        </p:nvSpPr>
        <p:spPr>
          <a:xfrm>
            <a:off x="594360" y="3538728"/>
            <a:ext cx="1508760" cy="365760"/>
          </a:xfrm>
          <a:prstGeom prst="rect">
            <a:avLst/>
          </a:prstGeom>
          <a:noFill/>
          <a:ln/>
        </p:spPr>
        <p:txBody>
          <a:bodyPr wrap="square" lIns="0" tIns="0" rIns="0" bIns="0" rtlCol="0" anchor="t"/>
          <a:lstStyle/>
          <a:p>
            <a:pPr indent="0" marL="0">
              <a:buNone/>
            </a:pPr>
            <a:r>
              <a:rPr lang="en-US" sz="1200" dirty="0">
                <a:solidFill>
                  <a:schemeClr val="tx2"/>
                </a:solidFill>
              </a:rPr>
              <a:t>per URL on Linux</a:t>
            </a:r>
            <a:endParaRPr lang="en-US" sz="1200" dirty="0"/>
          </a:p>
        </p:txBody>
      </p:sp>
      <p:sp>
        <p:nvSpPr>
          <p:cNvPr id="12" name="Stat 4 card"/>
          <p:cNvSpPr/>
          <p:nvPr/>
        </p:nvSpPr>
        <p:spPr>
          <a:xfrm>
            <a:off x="2423160" y="2697480"/>
            <a:ext cx="1783080" cy="1325880"/>
          </a:xfrm>
          <a:prstGeom prst="roundRect">
            <a:avLst>
              <a:gd name="adj" fmla="val 5517"/>
            </a:avLst>
          </a:prstGeom>
          <a:solidFill>
            <a:schemeClr val="bg2"/>
          </a:solidFill>
          <a:ln w="12700">
            <a:solidFill>
              <a:schemeClr val="bg2"/>
            </a:solidFill>
            <a:prstDash val="solid"/>
          </a:ln>
        </p:spPr>
      </p:sp>
      <p:sp>
        <p:nvSpPr>
          <p:cNvPr id="13" name="Stat 4 value"/>
          <p:cNvSpPr txBox="1"/>
          <p:nvPr/>
        </p:nvSpPr>
        <p:spPr>
          <a:xfrm>
            <a:off x="2560320" y="2834640"/>
            <a:ext cx="1508760" cy="685800"/>
          </a:xfrm>
          <a:prstGeom prst="rect">
            <a:avLst/>
          </a:prstGeom>
          <a:noFill/>
          <a:ln/>
        </p:spPr>
        <p:txBody>
          <a:bodyPr wrap="square" lIns="0" tIns="0" rIns="0" bIns="0" rtlCol="0" anchor="ctr"/>
          <a:lstStyle/>
          <a:p>
            <a:pPr indent="0" marL="0">
              <a:buNone/>
            </a:pPr>
            <a:r>
              <a:rPr lang="en-US" sz="4000" b="1" dirty="0">
                <a:solidFill>
                  <a:schemeClr val="tx1"/>
                </a:solidFill>
              </a:rPr>
              <a:t>0.5 s</a:t>
            </a:r>
            <a:endParaRPr lang="en-US" sz="4000" dirty="0"/>
          </a:p>
        </p:txBody>
      </p:sp>
      <p:sp>
        <p:nvSpPr>
          <p:cNvPr id="14" name="Stat 4 label"/>
          <p:cNvSpPr txBox="1"/>
          <p:nvPr/>
        </p:nvSpPr>
        <p:spPr>
          <a:xfrm>
            <a:off x="2560320" y="3538728"/>
            <a:ext cx="1508760" cy="365760"/>
          </a:xfrm>
          <a:prstGeom prst="rect">
            <a:avLst/>
          </a:prstGeom>
          <a:noFill/>
          <a:ln/>
        </p:spPr>
        <p:txBody>
          <a:bodyPr wrap="square" lIns="0" tIns="0" rIns="0" bIns="0" rtlCol="0" anchor="t"/>
          <a:lstStyle/>
          <a:p>
            <a:pPr indent="0" marL="0">
              <a:buNone/>
            </a:pPr>
            <a:r>
              <a:rPr lang="en-US" sz="1200" dirty="0">
                <a:solidFill>
                  <a:schemeClr val="tx2"/>
                </a:solidFill>
              </a:rPr>
              <a:t>per URL in a batch of 25</a:t>
            </a:r>
            <a:endParaRPr lang="en-US" sz="1200" dirty="0"/>
          </a:p>
        </p:txBody>
      </p:sp>
      <p:graphicFrame>
        <p:nvGraphicFramePr>
          <p:cNvPr id="15" name="Rules versus baseline chart" descr=""/>
          <p:cNvGraphicFramePr/>
          <p:nvPr/>
        </p:nvGraphicFramePr>
        <p:xfrm>
          <a:off x="4480560" y="1508760"/>
          <a:ext cx="4206240" cy="2560320"/>
        </p:xfrm>
        <a:graphic xmlns:a="http://schemas.openxmlformats.org/drawingml/2006/main">
          <a:graphicData uri="http://schemas.openxmlformats.org/drawingml/2006/chart">
            <c:chart xmlns:c="http://schemas.openxmlformats.org/drawingml/2006/chart" r:id="rId1"/>
          </a:graphicData>
        </a:graphic>
      </p:graphicFrame>
      <p:sp>
        <p:nvSpPr>
          <p:cNvPr id="16" name="Chart heading"/>
          <p:cNvSpPr txBox="1"/>
          <p:nvPr/>
        </p:nvSpPr>
        <p:spPr>
          <a:xfrm>
            <a:off x="4480560" y="1188720"/>
            <a:ext cx="4206240" cy="292608"/>
          </a:xfrm>
          <a:prstGeom prst="rect">
            <a:avLst/>
          </a:prstGeom>
          <a:noFill/>
          <a:ln/>
        </p:spPr>
        <p:txBody>
          <a:bodyPr wrap="square" lIns="0" tIns="0" rIns="0" bIns="0" rtlCol="0" anchor="ctr"/>
          <a:lstStyle/>
          <a:p>
            <a:pPr indent="0" marL="0">
              <a:buNone/>
            </a:pPr>
            <a:r>
              <a:rPr lang="en-US" sz="1400" b="1" dirty="0">
                <a:solidFill>
                  <a:schemeClr val="tx1"/>
                </a:solidFill>
              </a:rPr>
              <a:t>Our rules against a regex baseline</a:t>
            </a:r>
            <a:endParaRPr lang="en-US" sz="1400" dirty="0"/>
          </a:p>
        </p:txBody>
      </p:sp>
      <p:sp>
        <p:nvSpPr>
          <p:cNvPr id="17" name="Caveat"/>
          <p:cNvSpPr txBox="1"/>
          <p:nvPr/>
        </p:nvSpPr>
        <p:spPr>
          <a:xfrm>
            <a:off x="457200" y="4224528"/>
            <a:ext cx="8229600" cy="365760"/>
          </a:xfrm>
          <a:prstGeom prst="rect">
            <a:avLst/>
          </a:prstGeom>
          <a:noFill/>
          <a:ln/>
        </p:spPr>
        <p:txBody>
          <a:bodyPr wrap="square" lIns="0" tIns="0" rIns="0" bIns="0" rtlCol="0" anchor="t"/>
          <a:lstStyle/>
          <a:p>
            <a:pPr indent="0" marL="0">
              <a:buNone/>
            </a:pPr>
            <a:r>
              <a:rPr lang="en-US" sz="1100" dirty="0">
                <a:solidFill>
                  <a:schemeClr val="accent4"/>
                </a:solidFill>
              </a:rPr>
              <a:t>15 hand-written samples: a sanity check, not a benchmark. Demo phishing page: VERIFIED at 0.95. Benign lookalike: REJECTED at 0.0.</a:t>
            </a:r>
            <a:endParaRPr lang="en-US" sz="1100" dirty="0"/>
          </a:p>
        </p:txBody>
      </p:sp>
      <p:sp>
        <p:nvSpPr>
          <p:cNvPr id="25" name="Slide Number Placeholder 0"/>
          <p:cNvSpPr>
            <a:spLocks noGrp="1"/>
          </p:cNvSpPr>
          <p:nvPr>
            <p:ph type="sldNum" sz="quarter" idx="4294967295"/>
          </p:nvPr>
        </p:nvSpPr>
        <p:spPr>
          <a:xfrm>
            <a:off x="8229600" y="470916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ph idx="100" type="title" hasCustomPrompt="1"/>
          </p:nvPr>
        </p:nvSpPr>
        <p:spPr>
          <a:xfrm>
            <a:off x="457200" y="320040"/>
            <a:ext cx="8229600" cy="640080"/>
          </a:xfrm>
          <a:prstGeom prst="rect">
            <a:avLst/>
          </a:prstGeom>
          <a:noFill/>
          <a:ln/>
        </p:spPr>
        <p:txBody>
          <a:bodyPr wrap="square" lIns="0" tIns="0" rIns="0" bIns="0" rtlCol="0" anchor="ctr"/>
          <a:lstStyle/>
          <a:p>
            <a:pPr algn="l" indent="0" marL="0">
              <a:buNone/>
            </a:pPr>
            <a:r>
              <a:rPr lang="en-US" sz="3600" b="1" dirty="0">
                <a:solidFill>
                  <a:schemeClr val="tx1"/>
                </a:solidFill>
              </a:rPr>
              <a:t>Guild AI covers what rules miss</a:t>
            </a:r>
            <a:endParaRPr lang="en-US" sz="3600" dirty="0"/>
          </a:p>
        </p:txBody>
      </p:sp>
      <p:sp>
        <p:nvSpPr>
          <p:cNvPr id="3" name="Case 1 card"/>
          <p:cNvSpPr/>
          <p:nvPr/>
        </p:nvSpPr>
        <p:spPr>
          <a:xfrm>
            <a:off x="457200" y="1188720"/>
            <a:ext cx="4846320" cy="1325880"/>
          </a:xfrm>
          <a:prstGeom prst="roundRect">
            <a:avLst>
              <a:gd name="adj" fmla="val 5517"/>
            </a:avLst>
          </a:prstGeom>
          <a:solidFill>
            <a:schemeClr val="bg2"/>
          </a:solidFill>
          <a:ln w="12700">
            <a:solidFill>
              <a:schemeClr val="bg2"/>
            </a:solidFill>
            <a:prstDash val="solid"/>
          </a:ln>
        </p:spPr>
      </p:sp>
      <p:sp>
        <p:nvSpPr>
          <p:cNvPr id="4" name="Case 1 heading"/>
          <p:cNvSpPr txBox="1"/>
          <p:nvPr/>
        </p:nvSpPr>
        <p:spPr>
          <a:xfrm>
            <a:off x="640080" y="1298448"/>
            <a:ext cx="4480560" cy="329184"/>
          </a:xfrm>
          <a:prstGeom prst="rect">
            <a:avLst/>
          </a:prstGeom>
          <a:noFill/>
          <a:ln/>
        </p:spPr>
        <p:txBody>
          <a:bodyPr wrap="square" lIns="0" tIns="0" rIns="0" bIns="0" rtlCol="0" anchor="ctr"/>
          <a:lstStyle/>
          <a:p>
            <a:pPr indent="0" marL="0">
              <a:buNone/>
            </a:pPr>
            <a:r>
              <a:rPr lang="en-US" sz="1600" b="1" dirty="0">
                <a:solidFill>
                  <a:schemeClr val="tx1"/>
                </a:solidFill>
              </a:rPr>
              <a:t>Obfuscated credential theft</a:t>
            </a:r>
            <a:endParaRPr lang="en-US" sz="1600" dirty="0"/>
          </a:p>
        </p:txBody>
      </p:sp>
      <p:sp>
        <p:nvSpPr>
          <p:cNvPr id="5" name="Case 1 Semgrep pill"/>
          <p:cNvSpPr/>
          <p:nvPr/>
        </p:nvSpPr>
        <p:spPr>
          <a:xfrm>
            <a:off x="640080" y="1700784"/>
            <a:ext cx="2011680" cy="365760"/>
          </a:xfrm>
          <a:prstGeom prst="roundRect">
            <a:avLst>
              <a:gd name="adj" fmla="val 50000"/>
            </a:avLst>
          </a:prstGeom>
          <a:solidFill>
            <a:schemeClr val="bg1"/>
          </a:solidFill>
          <a:ln w="12700">
            <a:solidFill>
              <a:schemeClr val="accent4"/>
            </a:solidFill>
            <a:prstDash val="solid"/>
          </a:ln>
        </p:spPr>
      </p:sp>
      <p:sp>
        <p:nvSpPr>
          <p:cNvPr id="6" name="Case 1 Semgrep text"/>
          <p:cNvSpPr txBox="1"/>
          <p:nvPr/>
        </p:nvSpPr>
        <p:spPr>
          <a:xfrm>
            <a:off x="640080" y="1700784"/>
            <a:ext cx="2011680" cy="365760"/>
          </a:xfrm>
          <a:prstGeom prst="rect">
            <a:avLst/>
          </a:prstGeom>
          <a:noFill/>
          <a:ln/>
        </p:spPr>
        <p:txBody>
          <a:bodyPr wrap="square" lIns="0" tIns="0" rIns="0" bIns="0" rtlCol="0" anchor="ctr"/>
          <a:lstStyle/>
          <a:p>
            <a:pPr algn="ctr" indent="0" marL="0">
              <a:buNone/>
            </a:pPr>
            <a:r>
              <a:rPr lang="en-US" sz="1400" dirty="0">
                <a:solidFill>
                  <a:schemeClr val="tx2"/>
                </a:solidFill>
              </a:rPr>
              <a:t>Semgrep: no match</a:t>
            </a:r>
            <a:endParaRPr lang="en-US" sz="1400" dirty="0"/>
          </a:p>
        </p:txBody>
      </p:sp>
      <p:sp>
        <p:nvSpPr>
          <p:cNvPr id="7" name="Case 1 arrow"/>
          <p:cNvSpPr/>
          <p:nvPr/>
        </p:nvSpPr>
        <p:spPr>
          <a:xfrm>
            <a:off x="2743200" y="1792224"/>
            <a:ext cx="274320" cy="182880"/>
          </a:xfrm>
          <a:prstGeom prst="rightArrow">
            <a:avLst/>
          </a:prstGeom>
          <a:solidFill>
            <a:schemeClr val="accent4"/>
          </a:solidFill>
          <a:ln w="12700">
            <a:solidFill>
              <a:schemeClr val="accent4"/>
            </a:solidFill>
            <a:prstDash val="solid"/>
          </a:ln>
        </p:spPr>
      </p:sp>
      <p:sp>
        <p:nvSpPr>
          <p:cNvPr id="8" name="Case 1 Verifier pill"/>
          <p:cNvSpPr/>
          <p:nvPr/>
        </p:nvSpPr>
        <p:spPr>
          <a:xfrm>
            <a:off x="3108960" y="1700784"/>
            <a:ext cx="2011680" cy="365760"/>
          </a:xfrm>
          <a:prstGeom prst="roundRect">
            <a:avLst>
              <a:gd name="adj" fmla="val 50000"/>
            </a:avLst>
          </a:prstGeom>
          <a:solidFill>
            <a:schemeClr val="accent2"/>
          </a:solidFill>
          <a:ln w="12700">
            <a:solidFill>
              <a:schemeClr val="accent2"/>
            </a:solidFill>
            <a:prstDash val="solid"/>
          </a:ln>
        </p:spPr>
      </p:sp>
      <p:sp>
        <p:nvSpPr>
          <p:cNvPr id="9" name="Case 1 Verifier text"/>
          <p:cNvSpPr txBox="1"/>
          <p:nvPr/>
        </p:nvSpPr>
        <p:spPr>
          <a:xfrm>
            <a:off x="3108960" y="1700784"/>
            <a:ext cx="2011680" cy="365760"/>
          </a:xfrm>
          <a:prstGeom prst="rect">
            <a:avLst/>
          </a:prstGeom>
          <a:noFill/>
          <a:ln/>
        </p:spPr>
        <p:txBody>
          <a:bodyPr wrap="square" lIns="0" tIns="0" rIns="0" bIns="0" rtlCol="0" anchor="ctr"/>
          <a:lstStyle/>
          <a:p>
            <a:pPr algn="ctr" indent="0" marL="0">
              <a:buNone/>
            </a:pPr>
            <a:r>
              <a:rPr lang="en-US" sz="1400" b="1" dirty="0">
                <a:solidFill>
                  <a:schemeClr val="bg1"/>
                </a:solidFill>
              </a:rPr>
              <a:t>Verifier: malicious, 0.99</a:t>
            </a:r>
            <a:endParaRPr lang="en-US" sz="1400" dirty="0"/>
          </a:p>
        </p:txBody>
      </p:sp>
      <p:sp>
        <p:nvSpPr>
          <p:cNvPr id="10" name="Case 1 note"/>
          <p:cNvSpPr txBox="1"/>
          <p:nvPr/>
        </p:nvSpPr>
        <p:spPr>
          <a:xfrm>
            <a:off x="640080" y="2139696"/>
            <a:ext cx="4480560" cy="274320"/>
          </a:xfrm>
          <a:prstGeom prst="rect">
            <a:avLst/>
          </a:prstGeom>
          <a:noFill/>
          <a:ln/>
        </p:spPr>
        <p:txBody>
          <a:bodyPr wrap="square" lIns="0" tIns="0" rIns="0" bIns="0" rtlCol="0" anchor="ctr"/>
          <a:lstStyle/>
          <a:p>
            <a:pPr indent="0" marL="0">
              <a:buNone/>
            </a:pPr>
            <a:r>
              <a:rPr lang="en-US" sz="1200" dirty="0">
                <a:solidFill>
                  <a:schemeClr val="tx2"/>
                </a:solidFill>
              </a:rPr>
              <a:t>Decoded the hidden collector URL from base64.</a:t>
            </a:r>
            <a:endParaRPr lang="en-US" sz="1200" dirty="0"/>
          </a:p>
        </p:txBody>
      </p:sp>
      <p:sp>
        <p:nvSpPr>
          <p:cNvPr id="11" name="Case 2 card"/>
          <p:cNvSpPr/>
          <p:nvPr/>
        </p:nvSpPr>
        <p:spPr>
          <a:xfrm>
            <a:off x="457200" y="2697480"/>
            <a:ext cx="4846320" cy="1325880"/>
          </a:xfrm>
          <a:prstGeom prst="roundRect">
            <a:avLst>
              <a:gd name="adj" fmla="val 5517"/>
            </a:avLst>
          </a:prstGeom>
          <a:solidFill>
            <a:schemeClr val="bg2"/>
          </a:solidFill>
          <a:ln w="12700">
            <a:solidFill>
              <a:schemeClr val="bg2"/>
            </a:solidFill>
            <a:prstDash val="solid"/>
          </a:ln>
        </p:spPr>
      </p:sp>
      <p:sp>
        <p:nvSpPr>
          <p:cNvPr id="12" name="Case 2 heading"/>
          <p:cNvSpPr txBox="1"/>
          <p:nvPr/>
        </p:nvSpPr>
        <p:spPr>
          <a:xfrm>
            <a:off x="640080" y="2807208"/>
            <a:ext cx="4480560" cy="329184"/>
          </a:xfrm>
          <a:prstGeom prst="rect">
            <a:avLst/>
          </a:prstGeom>
          <a:noFill/>
          <a:ln/>
        </p:spPr>
        <p:txBody>
          <a:bodyPr wrap="square" lIns="0" tIns="0" rIns="0" bIns="0" rtlCol="0" anchor="ctr"/>
          <a:lstStyle/>
          <a:p>
            <a:pPr indent="0" marL="0">
              <a:buNone/>
            </a:pPr>
            <a:r>
              <a:rPr lang="en-US" sz="1600" b="1" dirty="0">
                <a:solidFill>
                  <a:schemeClr val="tx1"/>
                </a:solidFill>
              </a:rPr>
              <a:t>Login form posting to its own site</a:t>
            </a:r>
            <a:endParaRPr lang="en-US" sz="1600" dirty="0"/>
          </a:p>
        </p:txBody>
      </p:sp>
      <p:sp>
        <p:nvSpPr>
          <p:cNvPr id="13" name="Case 2 Semgrep pill"/>
          <p:cNvSpPr/>
          <p:nvPr/>
        </p:nvSpPr>
        <p:spPr>
          <a:xfrm>
            <a:off x="640080" y="3209544"/>
            <a:ext cx="2011680" cy="365760"/>
          </a:xfrm>
          <a:prstGeom prst="roundRect">
            <a:avLst>
              <a:gd name="adj" fmla="val 50000"/>
            </a:avLst>
          </a:prstGeom>
          <a:solidFill>
            <a:schemeClr val="bg1"/>
          </a:solidFill>
          <a:ln w="12700">
            <a:solidFill>
              <a:schemeClr val="accent4"/>
            </a:solidFill>
            <a:prstDash val="solid"/>
          </a:ln>
        </p:spPr>
      </p:sp>
      <p:sp>
        <p:nvSpPr>
          <p:cNvPr id="14" name="Case 2 Semgrep text"/>
          <p:cNvSpPr txBox="1"/>
          <p:nvPr/>
        </p:nvSpPr>
        <p:spPr>
          <a:xfrm>
            <a:off x="640080" y="3209544"/>
            <a:ext cx="2011680" cy="365760"/>
          </a:xfrm>
          <a:prstGeom prst="rect">
            <a:avLst/>
          </a:prstGeom>
          <a:noFill/>
          <a:ln/>
        </p:spPr>
        <p:txBody>
          <a:bodyPr wrap="square" lIns="0" tIns="0" rIns="0" bIns="0" rtlCol="0" anchor="ctr"/>
          <a:lstStyle/>
          <a:p>
            <a:pPr algn="ctr" indent="0" marL="0">
              <a:buNone/>
            </a:pPr>
            <a:r>
              <a:rPr lang="en-US" sz="1400" dirty="0">
                <a:solidFill>
                  <a:schemeClr val="tx2"/>
                </a:solidFill>
              </a:rPr>
              <a:t>Semgrep: no match</a:t>
            </a:r>
            <a:endParaRPr lang="en-US" sz="1400" dirty="0"/>
          </a:p>
        </p:txBody>
      </p:sp>
      <p:sp>
        <p:nvSpPr>
          <p:cNvPr id="15" name="Case 2 arrow"/>
          <p:cNvSpPr/>
          <p:nvPr/>
        </p:nvSpPr>
        <p:spPr>
          <a:xfrm>
            <a:off x="2743200" y="3300984"/>
            <a:ext cx="274320" cy="182880"/>
          </a:xfrm>
          <a:prstGeom prst="rightArrow">
            <a:avLst/>
          </a:prstGeom>
          <a:solidFill>
            <a:schemeClr val="accent4"/>
          </a:solidFill>
          <a:ln w="12700">
            <a:solidFill>
              <a:schemeClr val="accent4"/>
            </a:solidFill>
            <a:prstDash val="solid"/>
          </a:ln>
        </p:spPr>
      </p:sp>
      <p:sp>
        <p:nvSpPr>
          <p:cNvPr id="16" name="Case 2 Verifier pill"/>
          <p:cNvSpPr/>
          <p:nvPr/>
        </p:nvSpPr>
        <p:spPr>
          <a:xfrm>
            <a:off x="3108960" y="3209544"/>
            <a:ext cx="2011680" cy="365760"/>
          </a:xfrm>
          <a:prstGeom prst="roundRect">
            <a:avLst>
              <a:gd name="adj" fmla="val 50000"/>
            </a:avLst>
          </a:prstGeom>
          <a:solidFill>
            <a:schemeClr val="accent1"/>
          </a:solidFill>
          <a:ln w="12700">
            <a:solidFill>
              <a:schemeClr val="accent1"/>
            </a:solidFill>
            <a:prstDash val="solid"/>
          </a:ln>
        </p:spPr>
      </p:sp>
      <p:sp>
        <p:nvSpPr>
          <p:cNvPr id="17" name="Case 2 Verifier text"/>
          <p:cNvSpPr txBox="1"/>
          <p:nvPr/>
        </p:nvSpPr>
        <p:spPr>
          <a:xfrm>
            <a:off x="3108960" y="3209544"/>
            <a:ext cx="2011680" cy="365760"/>
          </a:xfrm>
          <a:prstGeom prst="rect">
            <a:avLst/>
          </a:prstGeom>
          <a:noFill/>
          <a:ln/>
        </p:spPr>
        <p:txBody>
          <a:bodyPr wrap="square" lIns="0" tIns="0" rIns="0" bIns="0" rtlCol="0" anchor="ctr"/>
          <a:lstStyle/>
          <a:p>
            <a:pPr algn="ctr" indent="0" marL="0">
              <a:buNone/>
            </a:pPr>
            <a:r>
              <a:rPr lang="en-US" sz="1400" b="1" dirty="0">
                <a:solidFill>
                  <a:schemeClr val="bg1"/>
                </a:solidFill>
              </a:rPr>
              <a:t>Verifier: benign, 0.95</a:t>
            </a:r>
            <a:endParaRPr lang="en-US" sz="1400" dirty="0"/>
          </a:p>
        </p:txBody>
      </p:sp>
      <p:sp>
        <p:nvSpPr>
          <p:cNvPr id="18" name="Case 2 note"/>
          <p:cNvSpPr txBox="1"/>
          <p:nvPr/>
        </p:nvSpPr>
        <p:spPr>
          <a:xfrm>
            <a:off x="640080" y="3648456"/>
            <a:ext cx="4480560" cy="274320"/>
          </a:xfrm>
          <a:prstGeom prst="rect">
            <a:avLst/>
          </a:prstGeom>
          <a:noFill/>
          <a:ln/>
        </p:spPr>
        <p:txBody>
          <a:bodyPr wrap="square" lIns="0" tIns="0" rIns="0" bIns="0" rtlCol="0" anchor="ctr"/>
          <a:lstStyle/>
          <a:p>
            <a:pPr indent="0" marL="0">
              <a:buNone/>
            </a:pPr>
            <a:r>
              <a:rPr lang="en-US" sz="1200" dirty="0">
                <a:solidFill>
                  <a:schemeClr val="tx2"/>
                </a:solidFill>
              </a:rPr>
              <a:t>Recognised as normal login behaviour.</a:t>
            </a:r>
            <a:endParaRPr lang="en-US" sz="1200" dirty="0"/>
          </a:p>
        </p:txBody>
      </p:sp>
      <p:sp>
        <p:nvSpPr>
          <p:cNvPr id="19" name="Next steps panel"/>
          <p:cNvSpPr/>
          <p:nvPr/>
        </p:nvSpPr>
        <p:spPr>
          <a:xfrm>
            <a:off x="5577840" y="1188720"/>
            <a:ext cx="3108960" cy="2834640"/>
          </a:xfrm>
          <a:prstGeom prst="roundRect">
            <a:avLst>
              <a:gd name="adj" fmla="val 2581"/>
            </a:avLst>
          </a:prstGeom>
          <a:solidFill>
            <a:schemeClr val="tx1"/>
          </a:solidFill>
          <a:ln w="12700">
            <a:solidFill>
              <a:schemeClr val="tx1"/>
            </a:solidFill>
            <a:prstDash val="solid"/>
          </a:ln>
        </p:spPr>
      </p:sp>
      <p:sp>
        <p:nvSpPr>
          <p:cNvPr id="20" name="Next steps heading"/>
          <p:cNvSpPr txBox="1"/>
          <p:nvPr/>
        </p:nvSpPr>
        <p:spPr>
          <a:xfrm>
            <a:off x="5806440" y="1325880"/>
            <a:ext cx="2651760" cy="365760"/>
          </a:xfrm>
          <a:prstGeom prst="rect">
            <a:avLst/>
          </a:prstGeom>
          <a:noFill/>
          <a:ln/>
        </p:spPr>
        <p:txBody>
          <a:bodyPr wrap="square" lIns="0" tIns="0" rIns="0" bIns="0" rtlCol="0" anchor="ctr"/>
          <a:lstStyle/>
          <a:p>
            <a:pPr indent="0" marL="0">
              <a:buNone/>
            </a:pPr>
            <a:r>
              <a:rPr lang="en-US" sz="1600" b="1" dirty="0">
                <a:solidFill>
                  <a:schemeClr val="accent1"/>
                </a:solidFill>
              </a:rPr>
              <a:t>Next steps</a:t>
            </a:r>
            <a:endParaRPr lang="en-US" sz="1600" dirty="0"/>
          </a:p>
        </p:txBody>
      </p:sp>
      <p:sp>
        <p:nvSpPr>
          <p:cNvPr id="21" name="Next steps list"/>
          <p:cNvSpPr txBox="1"/>
          <p:nvPr/>
        </p:nvSpPr>
        <p:spPr>
          <a:xfrm>
            <a:off x="5806440" y="1737360"/>
            <a:ext cx="2651760" cy="2148840"/>
          </a:xfrm>
          <a:prstGeom prst="rect">
            <a:avLst/>
          </a:prstGeom>
          <a:noFill/>
          <a:ln/>
        </p:spPr>
        <p:txBody>
          <a:bodyPr wrap="square" lIns="0" tIns="0" rIns="0" bIns="0" rtlCol="0" anchor="t"/>
          <a:lstStyle/>
          <a:p>
            <a:pPr marL="342900" indent="-342900">
              <a:spcAft>
                <a:spcPts val="600"/>
              </a:spcAft>
              <a:buSzPct val="100000"/>
              <a:buChar char="•"/>
            </a:pPr>
            <a:r>
              <a:rPr lang="en-US" sz="1400" dirty="0">
                <a:solidFill>
                  <a:schemeClr val="bg1"/>
                </a:solidFill>
              </a:rPr>
              <a:t>Register /scan as a Guild tool (needs a public URL)</a:t>
            </a:r>
            <a:endParaRPr lang="en-US" sz="1400" dirty="0"/>
          </a:p>
          <a:p>
            <a:pPr marL="342900" indent="-342900">
              <a:spcAft>
                <a:spcPts val="600"/>
              </a:spcAft>
              <a:buSzPct val="100000"/>
              <a:buChar char="•"/>
            </a:pPr>
            <a:r>
              <a:rPr lang="en-US" sz="1400" dirty="0">
                <a:solidFill>
                  <a:schemeClr val="bg1"/>
                </a:solidFill>
              </a:rPr>
              <a:t>Align scores with the Actor's 0.80 action threshold</a:t>
            </a:r>
            <a:endParaRPr lang="en-US" sz="1400" dirty="0"/>
          </a:p>
          <a:p>
            <a:pPr marL="342900" indent="-342900">
              <a:spcAft>
                <a:spcPts val="600"/>
              </a:spcAft>
              <a:buSzPct val="100000"/>
              <a:buChar char="•"/>
            </a:pPr>
            <a:r>
              <a:rPr lang="en-US" sz="1400" dirty="0">
                <a:solidFill>
                  <a:schemeClr val="bg1"/>
                </a:solidFill>
              </a:rPr>
              <a:t>Run the worker against the shared ClickHouse</a:t>
            </a:r>
            <a:endParaRPr lang="en-US" sz="1400" dirty="0"/>
          </a:p>
          <a:p>
            <a:pPr marL="342900" indent="-342900">
              <a:spcAft>
                <a:spcPts val="600"/>
              </a:spcAft>
              <a:buSzPct val="100000"/>
              <a:buChar char="•"/>
            </a:pPr>
            <a:r>
              <a:rPr lang="en-US" sz="1400" dirty="0">
                <a:solidFill>
                  <a:schemeClr val="bg1"/>
                </a:solidFill>
              </a:rPr>
              <a:t>Scan live feed URLs, beyond our demo pages</a:t>
            </a:r>
            <a:endParaRPr lang="en-US" sz="1400" dirty="0"/>
          </a:p>
        </p:txBody>
      </p:sp>
      <p:sp>
        <p:nvSpPr>
          <p:cNvPr id="22" name="Agent caption"/>
          <p:cNvSpPr txBox="1"/>
          <p:nvPr/>
        </p:nvSpPr>
        <p:spPr>
          <a:xfrm>
            <a:off x="457200" y="4224528"/>
            <a:ext cx="8229600" cy="365760"/>
          </a:xfrm>
          <a:prstGeom prst="rect">
            <a:avLst/>
          </a:prstGeom>
          <a:noFill/>
          <a:ln/>
        </p:spPr>
        <p:txBody>
          <a:bodyPr wrap="square" lIns="0" tIns="0" rIns="0" bIns="0" rtlCol="0" anchor="t"/>
          <a:lstStyle/>
          <a:p>
            <a:pPr indent="0" marL="0">
              <a:buNone/>
            </a:pPr>
            <a:r>
              <a:rPr lang="en-US" sz="1100" dirty="0">
                <a:solidFill>
                  <a:schemeClr val="accent4"/>
                </a:solidFill>
              </a:rPr>
              <a:t>Agent threat-verifier: built with the Guild CLI and TypeScript SDK, tested on Guild's runtime, saved as a validated draft.</a:t>
            </a:r>
            <a:endParaRPr lang="en-US" sz="1100" dirty="0"/>
          </a:p>
        </p:txBody>
      </p:sp>
      <p:sp>
        <p:nvSpPr>
          <p:cNvPr id="25" name="Slide Number Placeholder 0"/>
          <p:cNvSpPr>
            <a:spLocks noGrp="1"/>
          </p:cNvSpPr>
          <p:nvPr>
            <p:ph type="sldNum" sz="quarter" idx="4294967295"/>
          </p:nvPr>
        </p:nvSpPr>
        <p:spPr>
          <a:xfrm>
            <a:off x="8229600" y="470916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4</a:t>
            </a:fld>
            <a:endParaRPr lang="en-US"/>
          </a:p>
        </p:txBody>
      </p:sp>
    </p:spTree>
  </p:cSld>
  <p:clrMapOvr>
    <a:masterClrMapping/>
  </p:clrMapOvr>
</p:sld>
</file>

<file path=ppt/theme/theme1.xml><?xml version="1.0" encoding="utf-8"?>
<a:theme xmlns:a="http://schemas.openxmlformats.org/drawingml/2006/main" name="Threat Brain">
  <a:themeElements>
    <a:clrScheme name="Threat Brain">
      <a:dk1>
        <a:srgbClr val="0F1B2D"/>
      </a:dk1>
      <a:lt1>
        <a:srgbClr val="FFFFFF"/>
      </a:lt1>
      <a:dk2>
        <a:srgbClr val="33475B"/>
      </a:dk2>
      <a:lt2>
        <a:srgbClr val="EEF2F6"/>
      </a:lt2>
      <a:accent1>
        <a:srgbClr val="12A150"/>
      </a:accent1>
      <a:accent2>
        <a:srgbClr val="D64545"/>
      </a:accent2>
      <a:accent3>
        <a:srgbClr val="F2A93B"/>
      </a:accent3>
      <a:accent4>
        <a:srgbClr val="7A8CA3"/>
      </a:accent4>
      <a:accent5>
        <a:srgbClr val="1D3048"/>
      </a:accent5>
      <a:accent6>
        <a:srgbClr val="08121F"/>
      </a:accent6>
      <a:hlink>
        <a:srgbClr val="12A150"/>
      </a:hlink>
      <a:folHlink>
        <a:srgbClr val="7A8CA3"/>
      </a:folHlink>
    </a:clrScheme>
    <a:fontScheme name="Threat Brain">
      <a:majorFont>
        <a:latin typeface="Calibri"/>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4</Slides>
  <Notes>4</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4</vt:i4>
      </vt:variant>
    </vt:vector>
  </HeadingPairs>
  <TitlesOfParts>
    <vt:vector size="7" baseType="lpstr">
      <vt:lpstr>Arial</vt:lpstr>
      <vt:lpstr>Calibri</vt:lpstr>
      <vt:lpstr>Office Theme</vt:lpstr>
      <vt:lpstr>Slide 1</vt:lpstr>
      <vt:lpstr>Slide 2</vt:lpstr>
      <vt:lpstr>Slide 3</vt:lpstr>
      <vt:lpstr>Slide 4</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Member 2: Payload Inspection and Decision Engine</dc:title>
  <dc:subject>PptxGenJS Presentation</dc:subject>
  <dc:creator>Member 2</dc:creator>
  <cp:lastModifiedBy>Member 2</cp:lastModifiedBy>
  <cp:revision>1</cp:revision>
  <dcterms:created xsi:type="dcterms:W3CDTF">2026-10-09T20:51:08Z</dcterms:created>
  <dcterms:modified xsi:type="dcterms:W3CDTF">2026-10-09T20:51:08Z</dcterms:modified>
</cp:coreProperties>
</file>